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6dd5a4e1f4719" /><Relationship Type="http://schemas.openxmlformats.org/officeDocument/2006/relationships/extended-properties" Target="/docProps/app.xml" Id="R94f2bb8c81ce4614" /><Relationship Type="http://schemas.openxmlformats.org/officeDocument/2006/relationships/officeDocument" Target="/ppt/presentation.xml" Id="R4a8e614ba6fb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503917f87d42a2"/>
  </p:sldMasterIdLst>
  <p:notesMasterIdLst>
    <p:notesMasterId xmlns:r="http://schemas.openxmlformats.org/officeDocument/2006/relationships" r:id="Rfb2ded3e154140da"/>
  </p:notesMasterIdLst>
  <p:sldIdLst>
    <p:sldId xmlns:r="http://schemas.openxmlformats.org/officeDocument/2006/relationships" id="256" r:id="R1d818ccc7b01441c"/>
    <p:sldId xmlns:r="http://schemas.openxmlformats.org/officeDocument/2006/relationships" id="257" r:id="R1e7680b8bdc14e06"/>
    <p:sldId xmlns:r="http://schemas.openxmlformats.org/officeDocument/2006/relationships" id="258" r:id="Rd5f0c556462a4cc5"/>
    <p:sldId xmlns:r="http://schemas.openxmlformats.org/officeDocument/2006/relationships" id="259" r:id="Ra9d55f9fa4d44ab1"/>
    <p:sldId xmlns:r="http://schemas.openxmlformats.org/officeDocument/2006/relationships" id="260" r:id="R0ffe8ebec92c49b6"/>
    <p:sldId xmlns:r="http://schemas.openxmlformats.org/officeDocument/2006/relationships" id="261" r:id="R21e15d08c50e4123"/>
    <p:sldId xmlns:r="http://schemas.openxmlformats.org/officeDocument/2006/relationships" id="262" r:id="Rf65edbe1bb7a4425"/>
    <p:sldId xmlns:r="http://schemas.openxmlformats.org/officeDocument/2006/relationships" id="263" r:id="Rd270b6ec75254e1f"/>
    <p:sldId xmlns:r="http://schemas.openxmlformats.org/officeDocument/2006/relationships" id="264" r:id="Rfbc5d9aa1f3449b1"/>
    <p:sldId xmlns:r="http://schemas.openxmlformats.org/officeDocument/2006/relationships" id="265" r:id="R75039e5ba91c4dd1"/>
    <p:sldId xmlns:r="http://schemas.openxmlformats.org/officeDocument/2006/relationships" id="266" r:id="Ra91bdc424c8c40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2e20370e894677" /><Relationship Type="http://schemas.openxmlformats.org/officeDocument/2006/relationships/slideMaster" Target="/ppt/slideMasters/slideMaster1.xml" Id="R14503917f87d42a2" /><Relationship Type="http://schemas.openxmlformats.org/officeDocument/2006/relationships/notesMaster" Target="/ppt/notesMasters/notesMaster1.xml" Id="Rfb2ded3e154140da" /><Relationship Type="http://schemas.openxmlformats.org/officeDocument/2006/relationships/presProps" Target="/ppt/presProps.xml" Id="R14baf26385004aba" /><Relationship Type="http://schemas.openxmlformats.org/officeDocument/2006/relationships/viewProps" Target="/ppt/viewProps.xml" Id="R1f9e20cad99f4744" /><Relationship Type="http://schemas.openxmlformats.org/officeDocument/2006/relationships/tableStyles" Target="/ppt/tableStyles.xml" Id="R4728db984e3d4f93" /><Relationship Type="http://schemas.openxmlformats.org/officeDocument/2006/relationships/slide" Target="/ppt/slides/slide1.xml" Id="R1d818ccc7b01441c" /><Relationship Type="http://schemas.openxmlformats.org/officeDocument/2006/relationships/slide" Target="/ppt/slides/slide2.xml" Id="R1e7680b8bdc14e06" /><Relationship Type="http://schemas.openxmlformats.org/officeDocument/2006/relationships/slide" Target="/ppt/slides/slide3.xml" Id="Rd5f0c556462a4cc5" /><Relationship Type="http://schemas.openxmlformats.org/officeDocument/2006/relationships/slide" Target="/ppt/slides/slide4.xml" Id="Ra9d55f9fa4d44ab1" /><Relationship Type="http://schemas.openxmlformats.org/officeDocument/2006/relationships/slide" Target="/ppt/slides/slide5.xml" Id="R0ffe8ebec92c49b6" /><Relationship Type="http://schemas.openxmlformats.org/officeDocument/2006/relationships/slide" Target="/ppt/slides/slide6.xml" Id="R21e15d08c50e4123" /><Relationship Type="http://schemas.openxmlformats.org/officeDocument/2006/relationships/slide" Target="/ppt/slides/slide7.xml" Id="Rf65edbe1bb7a4425" /><Relationship Type="http://schemas.openxmlformats.org/officeDocument/2006/relationships/slide" Target="/ppt/slides/slide8.xml" Id="Rd270b6ec75254e1f" /><Relationship Type="http://schemas.openxmlformats.org/officeDocument/2006/relationships/slide" Target="/ppt/slides/slide9.xml" Id="Rfbc5d9aa1f3449b1" /><Relationship Type="http://schemas.openxmlformats.org/officeDocument/2006/relationships/slide" Target="/ppt/slides/slide10.xml" Id="R75039e5ba91c4dd1" /><Relationship Type="http://schemas.openxmlformats.org/officeDocument/2006/relationships/slide" Target="/ppt/slides/slide11.xml" Id="Ra91bdc424c8c40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af6dce6a1a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课程设计主题">
  <a:themeElements>
    <a:clrScheme name="课程设计主题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课程设计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a74d49f12049c9" /><Relationship Type="http://schemas.openxmlformats.org/officeDocument/2006/relationships/notesMaster" Target="/ppt/notesMasters/notesMaster1.xml" Id="Rb6c85848e61545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f7f62e097b4d4f" /><Relationship Type="http://schemas.openxmlformats.org/officeDocument/2006/relationships/notesMaster" Target="/ppt/notesMasters/notesMaster1.xml" Id="R5cc89e55bd2c4f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f768124d284337" /><Relationship Type="http://schemas.openxmlformats.org/officeDocument/2006/relationships/notesMaster" Target="/ppt/notesMasters/notesMaster1.xml" Id="Rdc59ba565a9245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86cb4d53ef4f3d" /><Relationship Type="http://schemas.openxmlformats.org/officeDocument/2006/relationships/notesMaster" Target="/ppt/notesMasters/notesMaster1.xml" Id="Rf7684116e85e45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df3fd359a34385" /><Relationship Type="http://schemas.openxmlformats.org/officeDocument/2006/relationships/notesMaster" Target="/ppt/notesMasters/notesMaster1.xml" Id="R2244383a806e47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d79884e8364e9e" /><Relationship Type="http://schemas.openxmlformats.org/officeDocument/2006/relationships/notesMaster" Target="/ppt/notesMasters/notesMaster1.xml" Id="R1792f84873b949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3bd0869efd4bbb" /><Relationship Type="http://schemas.openxmlformats.org/officeDocument/2006/relationships/notesMaster" Target="/ppt/notesMasters/notesMaster1.xml" Id="Rb23bbd1804f14a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e5736c5a5a436b" /><Relationship Type="http://schemas.openxmlformats.org/officeDocument/2006/relationships/notesMaster" Target="/ppt/notesMasters/notesMaster1.xml" Id="R34fc8991a2f14e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1b89e31c1240e7" /><Relationship Type="http://schemas.openxmlformats.org/officeDocument/2006/relationships/notesMaster" Target="/ppt/notesMasters/notesMaster1.xml" Id="R2de9442de01d47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3ac7fd7a7242e7" /><Relationship Type="http://schemas.openxmlformats.org/officeDocument/2006/relationships/notesMaster" Target="/ppt/notesMasters/notesMaster1.xml" Id="Rd224561a70b14b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c1db66167f4d45" /><Relationship Type="http://schemas.openxmlformats.org/officeDocument/2006/relationships/notesMaster" Target="/ppt/notesMasters/notesMaster1.xml" Id="Rbce56a68d82d4a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a6700e45a4c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4bbd8447774688" /><Relationship Type="http://schemas.openxmlformats.org/officeDocument/2006/relationships/slideLayout" Target="/ppt/slideLayouts/slideLayout1.xml" Id="R07b9b3882ff14b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9b3882ff14b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课程设计主题">
  <a:themeElements>
    <a:clrScheme name="课程设计主题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课程设计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50119bc754352" /><Relationship Type="http://schemas.openxmlformats.org/officeDocument/2006/relationships/notesSlide" Target="/ppt/notesSlides/notesSlide1.xml" Id="R201c2b1c67d2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57c0ca4684e13" /><Relationship Type="http://schemas.openxmlformats.org/officeDocument/2006/relationships/notesSlide" Target="/ppt/notesSlides/notesSlide2.xml" Id="R37ad99a80df74b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1fe59f9c84e7c" /><Relationship Type="http://schemas.openxmlformats.org/officeDocument/2006/relationships/image" Target="/ppt/media/image.png" Id="R8228df822c284d52" /><Relationship Type="http://schemas.openxmlformats.org/officeDocument/2006/relationships/notesSlide" Target="/ppt/notesSlides/notesSlide3.xml" Id="R81b03882510944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bbba560e54e33" /><Relationship Type="http://schemas.openxmlformats.org/officeDocument/2006/relationships/notesSlide" Target="/ppt/notesSlides/notesSlide4.xml" Id="Ra97ad7baf8114f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c368eaade47b2" /><Relationship Type="http://schemas.openxmlformats.org/officeDocument/2006/relationships/notesSlide" Target="/ppt/notesSlides/notesSlide5.xml" Id="R234bb7c2f3aa47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573003f374f32" /><Relationship Type="http://schemas.openxmlformats.org/officeDocument/2006/relationships/chart" Target="/ppt/slides/charts/chart1.xml" Id="R1be257f7325a44a2" /><Relationship Type="http://schemas.openxmlformats.org/officeDocument/2006/relationships/notesSlide" Target="/ppt/notesSlides/notesSlide6.xml" Id="Rb35d0e0c3dad42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0335acb24c5c" /><Relationship Type="http://schemas.openxmlformats.org/officeDocument/2006/relationships/notesSlide" Target="/ppt/notesSlides/notesSlide7.xml" Id="R67c932d29f0c4b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eb59e71204f27" /><Relationship Type="http://schemas.openxmlformats.org/officeDocument/2006/relationships/image" Target="/ppt/media/image2.png" Id="R2bd1797267304b17" /><Relationship Type="http://schemas.openxmlformats.org/officeDocument/2006/relationships/notesSlide" Target="/ppt/notesSlides/notesSlide8.xml" Id="Racd91632a01741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3be9e7722467e" /><Relationship Type="http://schemas.openxmlformats.org/officeDocument/2006/relationships/image" Target="/ppt/media/image3.png" Id="Rfc6009e09f624931" /><Relationship Type="http://schemas.openxmlformats.org/officeDocument/2006/relationships/notesSlide" Target="/ppt/notesSlides/notesSlide9.xml" Id="R9ef5fa2cfefb41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2d19b7b244508" /><Relationship Type="http://schemas.openxmlformats.org/officeDocument/2006/relationships/notesSlide" Target="/ppt/notesSlides/notesSlide10.xml" Id="R19f055d1534944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61b79aaa344a0" /><Relationship Type="http://schemas.openxmlformats.org/officeDocument/2006/relationships/notesSlide" Target="/ppt/notesSlides/notesSlide11.xml" Id="R564552a9a33a450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运行电流/A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正常双回
每回</c:v>
              </c:pt>
              <c:pt idx="1">
                <c:v>单回承担
全部送出</c:v>
              </c:pt>
              <c:pt idx="2">
                <c:v>主变N-1
限发后</c:v>
              </c:pt>
            </c:strLit>
          </c:cat>
          <c:val>
            <c:numLit>
              <c:formatCode>0.000</c:formatCode>
              <c:ptCount val="3"/>
              <c:pt idx="0">
                <c:v>367.78</c:v>
              </c:pt>
              <c:pt idx="1">
                <c:v>735.559</c:v>
              </c:pt>
              <c:pt idx="2">
                <c:v>472.377</c:v>
              </c:pt>
            </c:numLit>
          </c:val>
        </c:ser>
        <c:ser>
          <c:idx val="1"/>
          <c:order val="1"/>
          <c:tx>
            <c:v>41℃课程载流量/A</c:v>
          </c:tx>
          <c:spPr>
            <a:solidFill xmlns:a="http://schemas.openxmlformats.org/drawingml/2006/main">
              <a:srgbClr val="D0EDFA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正常双回
每回</c:v>
              </c:pt>
              <c:pt idx="1">
                <c:v>单回承担
全部送出</c:v>
              </c:pt>
              <c:pt idx="2">
                <c:v>主变N-1
限发后</c:v>
              </c:pt>
            </c:strLit>
          </c:cat>
          <c:val>
            <c:numLit>
              <c:formatCode>0.000</c:formatCode>
              <c:ptCount val="3"/>
              <c:pt idx="0">
                <c:v>475.242</c:v>
              </c:pt>
              <c:pt idx="1">
                <c:v>475.242</c:v>
              </c:pt>
              <c:pt idx="2">
                <c:v>475.242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000000"/>
                    </a:solidFill>
                  </a:rPr>
                  <a:t>电流/A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000000"/>
                  </a:solidFill>
                </a:defRPr>
              </a:pPr>
            </a:p>
          </c:txPr>
        </c:title>
        <c:numFmt formatCode="0" sourceLinked="0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AFB5632-A63A-4516-B70F-6AF7AD8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09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《发电厂电气部分》课程设计 · 第5组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029E56-C98D-48B2-895A-B5EA2B7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66800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220kV新能源汇集变电所
电气一次部分初步设计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F2DEB35-5309-4D8F-B520-5839BB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9906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主接线 · 容量与短路 · 设备及防雷接地预筛 · AIS平断面与L1详图</a:t>
            </a:r>
          </a:p>
        </p:txBody>
      </p:sp>
      <p:sp>
        <p:nvSpPr>
          <p:cNvPr id="4" name="cover-note">
            <a:extLst xmlns:a="http://schemas.openxmlformats.org/drawingml/2006/main">
              <a:ext uri="{FF2B5EF4-FFF2-40B4-BE49-F238E27FC236}">
                <a16:creationId xmlns:a16="http://schemas.microsoft.com/office/drawing/2014/main" id="{FE13D2A4-80EB-48CD-A2DD-D9022A4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公开答辩版｜姓名、学号、班级与签字留空</a:t>
            </a:r>
          </a:p>
        </p:txBody>
      </p:sp>
    </p:spTree>
    <p:extLst>
      <p:ext uri="{BB962C8B-B14F-4D97-AF65-F5344CB8AC3E}">
        <p14:creationId xmlns:p14="http://schemas.microsoft.com/office/powerpoint/2010/main" val="40887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E721D93-7A37-4BA3-9063-68AC515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本设计以270MW新能源汇集与四级电压系统为主线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17BFD13C-AE77-4CB7-80D8-C2C71AD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3" name="scope-rule">
            <a:extLst xmlns:a="http://schemas.openxmlformats.org/drawingml/2006/main">
              <a:ext uri="{FF2B5EF4-FFF2-40B4-BE49-F238E27FC236}">
                <a16:creationId xmlns:a16="http://schemas.microsoft.com/office/drawing/2014/main" id="{343C149A-0FCC-4FCC-A9F0-4DBFF2F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52600"/>
            <a:ext cx="1428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cope-left-heading">
            <a:extLst xmlns:a="http://schemas.openxmlformats.org/drawingml/2006/main">
              <a:ext uri="{FF2B5EF4-FFF2-40B4-BE49-F238E27FC236}">
                <a16:creationId xmlns:a16="http://schemas.microsoft.com/office/drawing/2014/main" id="{3713B0E0-CDF8-45FE-A182-2093ABF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设计对象</a:t>
            </a:r>
          </a:p>
        </p:txBody>
      </p:sp>
      <p:sp>
        <p:nvSpPr>
          <p:cNvPr id="5" name="scope-left-body">
            <a:extLst xmlns:a="http://schemas.openxmlformats.org/drawingml/2006/main">
              <a:ext uri="{FF2B5EF4-FFF2-40B4-BE49-F238E27FC236}">
                <a16:creationId xmlns:a16="http://schemas.microsoft.com/office/drawing/2014/main" id="{28DAECE4-0D0E-4A59-85AA-4B784C4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49530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220 / 35 / 10 / 0.4kV
12回35kV集电线路
两回220kV本期送出，预留L3</a:t>
            </a:r>
          </a:p>
        </p:txBody>
      </p:sp>
      <p:sp>
        <p:nvSpPr>
          <p:cNvPr id="6" name="scope-right-heading">
            <a:extLst xmlns:a="http://schemas.openxmlformats.org/drawingml/2006/main">
              <a:ext uri="{FF2B5EF4-FFF2-40B4-BE49-F238E27FC236}">
                <a16:creationId xmlns:a16="http://schemas.microsoft.com/office/drawing/2014/main" id="{B013B5D0-F358-4E32-B7C9-7D28688A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交付范围</a:t>
            </a:r>
          </a:p>
        </p:txBody>
      </p:sp>
      <p:sp>
        <p:nvSpPr>
          <p:cNvPr id="7" name="scope-right-body">
            <a:extLst xmlns:a="http://schemas.openxmlformats.org/drawingml/2006/main">
              <a:ext uri="{FF2B5EF4-FFF2-40B4-BE49-F238E27FC236}">
                <a16:creationId xmlns:a16="http://schemas.microsoft.com/office/drawing/2014/main" id="{1BF28EA1-DC47-489D-A03B-142F43D2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49530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技术设计说明书 + 计算书
SLD-01 主接线图
LAY-220-01 平面图
SEC-220-01 典型断面图
SEC-220-L1-01 L1线路间隔详图
答辩清单与可追溯计算脚本</a:t>
            </a:r>
          </a:p>
        </p:txBody>
      </p:sp>
    </p:spTree>
    <p:extLst>
      <p:ext uri="{BB962C8B-B14F-4D97-AF65-F5344CB8AC3E}">
        <p14:creationId xmlns:p14="http://schemas.microsoft.com/office/powerpoint/2010/main" val="297745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B1D6989-E119-41F3-8EB8-0AFA431C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最终主接线通过分段与分列运行控制风险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16E0B328-A67E-4140-9C1F-6F3CB691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3" name="scheme-label">
            <a:extLst xmlns:a="http://schemas.openxmlformats.org/drawingml/2006/main">
              <a:ext uri="{FF2B5EF4-FFF2-40B4-BE49-F238E27FC236}">
                <a16:creationId xmlns:a16="http://schemas.microsoft.com/office/drawing/2014/main" id="{28183C1B-A516-4426-9ED0-A9DF5AE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方案结论</a:t>
            </a:r>
          </a:p>
        </p:txBody>
      </p:sp>
      <p:sp>
        <p:nvSpPr>
          <p:cNvPr id="4" name="scheme-copy">
            <a:extLst xmlns:a="http://schemas.openxmlformats.org/drawingml/2006/main">
              <a:ext uri="{FF2B5EF4-FFF2-40B4-BE49-F238E27FC236}">
                <a16:creationId xmlns:a16="http://schemas.microsoft.com/office/drawing/2014/main" id="{56A249CA-12AC-46CB-8387-6930584B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1148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220kV采用单母线分段；35kV和10kV均采用单母线两分段；0.4kV采用单母线分段。
正常运行：220kV分段断路器断开；
35/10kV母联断开；0.4kV母联闭合。
T1、T2分别带35kV I/II段，T10与SVG按段配置。</a:t>
            </a:r>
          </a:p>
        </p:txBody>
      </p:sp>
      <p:sp>
        <p:nvSpPr>
          <p:cNvPr id="5" name="scheme-image-frame">
            <a:extLst xmlns:a="http://schemas.openxmlformats.org/drawingml/2006/main">
              <a:ext uri="{FF2B5EF4-FFF2-40B4-BE49-F238E27FC236}">
                <a16:creationId xmlns:a16="http://schemas.microsoft.com/office/drawing/2014/main" id="{3AD9653A-1C2D-42C1-8CCE-DEA3C47B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52550"/>
            <a:ext cx="664845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scheme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8df822c284d52"/>
          <a:stretch xmlns:a="http://schemas.openxmlformats.org/drawingml/2006/main"/>
        </p:blipFill>
        <p:spPr>
          <a:xfrm xmlns:a="http://schemas.openxmlformats.org/drawingml/2006/main" flipH="0" flipV="0">
            <a:off x="4985409" y="1428750"/>
            <a:ext cx="6431232" cy="4543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39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9E25054-EAEE-438C-9E23-39900462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2×180MVA主变满足正常方式，N-1成为容量约束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180BE2F2-14AA-4B3C-83FB-A13A941D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3" name="main-t-intro">
            <a:extLst xmlns:a="http://schemas.openxmlformats.org/drawingml/2006/main">
              <a:ext uri="{FF2B5EF4-FFF2-40B4-BE49-F238E27FC236}">
                <a16:creationId xmlns:a16="http://schemas.microsoft.com/office/drawing/2014/main" id="{9F88B77E-50EB-4261-A5D6-1A6C28B0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主变采用2×180MVA、220/35kV油浸有载调压、YNd11、uk=14%。35kV计算容量280.286MVA，正常负载率77.857%；N-1需限发35.780%。</a:t>
            </a:r>
          </a:p>
        </p:txBody>
      </p:sp>
      <p:sp>
        <p:nvSpPr>
          <p:cNvPr id="4" name="main-t-card-1">
            <a:extLst xmlns:a="http://schemas.openxmlformats.org/drawingml/2006/main">
              <a:ext uri="{FF2B5EF4-FFF2-40B4-BE49-F238E27FC236}">
                <a16:creationId xmlns:a16="http://schemas.microsoft.com/office/drawing/2014/main" id="{00EE80C4-4F64-4618-A9E7-2F05B6A7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5623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main-t-stat-1">
            <a:extLst xmlns:a="http://schemas.openxmlformats.org/drawingml/2006/main">
              <a:ext uri="{FF2B5EF4-FFF2-40B4-BE49-F238E27FC236}">
                <a16:creationId xmlns:a16="http://schemas.microsoft.com/office/drawing/2014/main" id="{DE6CBDCF-D37E-48C9-94BB-23A6147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77.857%</a:t>
            </a:r>
          </a:p>
        </p:txBody>
      </p:sp>
      <p:sp>
        <p:nvSpPr>
          <p:cNvPr id="6" name="main-t-label-1">
            <a:extLst xmlns:a="http://schemas.openxmlformats.org/drawingml/2006/main">
              <a:ext uri="{FF2B5EF4-FFF2-40B4-BE49-F238E27FC236}">
                <a16:creationId xmlns:a16="http://schemas.microsoft.com/office/drawing/2014/main" id="{22C3A147-49CD-4D34-8D82-9656357F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2952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正常双机平均负载率</a:t>
            </a:r>
          </a:p>
        </p:txBody>
      </p:sp>
      <p:sp>
        <p:nvSpPr>
          <p:cNvPr id="7" name="main-t-card-2">
            <a:extLst xmlns:a="http://schemas.openxmlformats.org/drawingml/2006/main">
              <a:ext uri="{FF2B5EF4-FFF2-40B4-BE49-F238E27FC236}">
                <a16:creationId xmlns:a16="http://schemas.microsoft.com/office/drawing/2014/main" id="{4F6656AA-578E-446F-B81B-0A59F5C1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48000"/>
            <a:ext cx="35623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main-t-stat-2">
            <a:extLst xmlns:a="http://schemas.openxmlformats.org/drawingml/2006/main">
              <a:ext uri="{FF2B5EF4-FFF2-40B4-BE49-F238E27FC236}">
                <a16:creationId xmlns:a16="http://schemas.microsoft.com/office/drawing/2014/main" id="{1761479B-0C74-4A7B-AC6C-A3505B48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38550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35.780%</a:t>
            </a:r>
          </a:p>
        </p:txBody>
      </p:sp>
      <p:sp>
        <p:nvSpPr>
          <p:cNvPr id="9" name="main-t-label-2">
            <a:extLst xmlns:a="http://schemas.openxmlformats.org/drawingml/2006/main">
              <a:ext uri="{FF2B5EF4-FFF2-40B4-BE49-F238E27FC236}">
                <a16:creationId xmlns:a16="http://schemas.microsoft.com/office/drawing/2014/main" id="{17963DF6-9414-4B8A-A9AA-77CF0590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952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主变N-1限发比例</a:t>
            </a:r>
          </a:p>
        </p:txBody>
      </p:sp>
      <p:sp>
        <p:nvSpPr>
          <p:cNvPr id="10" name="main-t-card-3">
            <a:extLst xmlns:a="http://schemas.openxmlformats.org/drawingml/2006/main">
              <a:ext uri="{FF2B5EF4-FFF2-40B4-BE49-F238E27FC236}">
                <a16:creationId xmlns:a16="http://schemas.microsoft.com/office/drawing/2014/main" id="{C442BE61-D5E3-4298-AE33-3DC3A9A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5623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main-t-stat-3">
            <a:extLst xmlns:a="http://schemas.openxmlformats.org/drawingml/2006/main">
              <a:ext uri="{FF2B5EF4-FFF2-40B4-BE49-F238E27FC236}">
                <a16:creationId xmlns:a16="http://schemas.microsoft.com/office/drawing/2014/main" id="{86BF1A6B-378E-4C08-B8FC-EE870D69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100.286</a:t>
            </a:r>
          </a:p>
        </p:txBody>
      </p:sp>
      <p:sp>
        <p:nvSpPr>
          <p:cNvPr id="12" name="main-t-label-3">
            <a:extLst xmlns:a="http://schemas.openxmlformats.org/drawingml/2006/main">
              <a:ext uri="{FF2B5EF4-FFF2-40B4-BE49-F238E27FC236}">
                <a16:creationId xmlns:a16="http://schemas.microsoft.com/office/drawing/2014/main" id="{D757AE0D-DA59-4AB8-B4F1-F74D1EEC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00625"/>
            <a:ext cx="2952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单台容量缺口 / MVA</a:t>
            </a:r>
          </a:p>
        </p:txBody>
      </p:sp>
    </p:spTree>
    <p:extLst>
      <p:ext uri="{BB962C8B-B14F-4D97-AF65-F5344CB8AC3E}">
        <p14:creationId xmlns:p14="http://schemas.microsoft.com/office/powerpoint/2010/main" val="109694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95F7D8D-9BE6-4FF0-9A79-9A553198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T10、SVG与所用变构成完整的辅助供电链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E4BF8B3C-C93F-4866-9E1C-1C0976A3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  <p:sp>
        <p:nvSpPr>
          <p:cNvPr id="3" name="aux-intro">
            <a:extLst xmlns:a="http://schemas.openxmlformats.org/drawingml/2006/main">
              <a:ext uri="{FF2B5EF4-FFF2-40B4-BE49-F238E27FC236}">
                <a16:creationId xmlns:a16="http://schemas.microsoft.com/office/drawing/2014/main" id="{DD51C7C7-3C78-4A6E-816C-0098E3C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容量选择与主接线保持逐段对应，兼顾正常运行、单元退出和站用电连续性。</a:t>
            </a:r>
          </a:p>
        </p:txBody>
      </p:sp>
      <p:sp>
        <p:nvSpPr>
          <p:cNvPr id="4" name="aux-accent-1">
            <a:extLst xmlns:a="http://schemas.openxmlformats.org/drawingml/2006/main">
              <a:ext uri="{FF2B5EF4-FFF2-40B4-BE49-F238E27FC236}">
                <a16:creationId xmlns:a16="http://schemas.microsoft.com/office/drawing/2014/main" id="{0F9A62F9-9896-43DC-8E49-C63A395F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3562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aux-title-1">
            <a:extLst xmlns:a="http://schemas.openxmlformats.org/drawingml/2006/main">
              <a:ext uri="{FF2B5EF4-FFF2-40B4-BE49-F238E27FC236}">
                <a16:creationId xmlns:a16="http://schemas.microsoft.com/office/drawing/2014/main" id="{349541FF-586E-49D7-AA08-75FBC26E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3562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2×31.5MVA T10</a:t>
            </a:r>
          </a:p>
        </p:txBody>
      </p:sp>
      <p:sp>
        <p:nvSpPr>
          <p:cNvPr id="6" name="aux-body-1">
            <a:extLst xmlns:a="http://schemas.openxmlformats.org/drawingml/2006/main">
              <a:ext uri="{FF2B5EF4-FFF2-40B4-BE49-F238E27FC236}">
                <a16:creationId xmlns:a16="http://schemas.microsoft.com/office/drawing/2014/main" id="{EE01B406-FAD2-4306-8C28-E3A91BA4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35/10.5kV，YNd11，uk=8%
正常均衡负载率39.58%
N-1最严负载率79.17%</a:t>
            </a:r>
          </a:p>
        </p:txBody>
      </p:sp>
      <p:sp>
        <p:nvSpPr>
          <p:cNvPr id="7" name="aux-accent-2">
            <a:extLst xmlns:a="http://schemas.openxmlformats.org/drawingml/2006/main">
              <a:ext uri="{FF2B5EF4-FFF2-40B4-BE49-F238E27FC236}">
                <a16:creationId xmlns:a16="http://schemas.microsoft.com/office/drawing/2014/main" id="{86F6679C-E351-4708-B335-BCFD38FD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14600"/>
            <a:ext cx="3562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aux-title-2">
            <a:extLst xmlns:a="http://schemas.openxmlformats.org/drawingml/2006/main">
              <a:ext uri="{FF2B5EF4-FFF2-40B4-BE49-F238E27FC236}">
                <a16:creationId xmlns:a16="http://schemas.microsoft.com/office/drawing/2014/main" id="{3C612C7C-49DF-4915-BDC8-0E1246F3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95600"/>
            <a:ext cx="3562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2×±12Mvar SVG</a:t>
            </a:r>
          </a:p>
        </p:txBody>
      </p:sp>
      <p:sp>
        <p:nvSpPr>
          <p:cNvPr id="9" name="aux-body-2">
            <a:extLst xmlns:a="http://schemas.openxmlformats.org/drawingml/2006/main">
              <a:ext uri="{FF2B5EF4-FFF2-40B4-BE49-F238E27FC236}">
                <a16:creationId xmlns:a16="http://schemas.microsoft.com/office/drawing/2014/main" id="{3CF0252A-955B-4F0B-9960-BF8583DC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576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总容量24Mvar
保守需求21.8875Mvar
补偿后功率因数0.98147</a:t>
            </a:r>
          </a:p>
        </p:txBody>
      </p:sp>
      <p:sp>
        <p:nvSpPr>
          <p:cNvPr id="10" name="aux-accent-3">
            <a:extLst xmlns:a="http://schemas.openxmlformats.org/drawingml/2006/main">
              <a:ext uri="{FF2B5EF4-FFF2-40B4-BE49-F238E27FC236}">
                <a16:creationId xmlns:a16="http://schemas.microsoft.com/office/drawing/2014/main" id="{7287D2D5-AA9A-486F-93C9-D7135D7C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3562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aux-title-3">
            <a:extLst xmlns:a="http://schemas.openxmlformats.org/drawingml/2006/main">
              <a:ext uri="{FF2B5EF4-FFF2-40B4-BE49-F238E27FC236}">
                <a16:creationId xmlns:a16="http://schemas.microsoft.com/office/drawing/2014/main" id="{A4622E3B-F484-4756-883D-ADF5C63E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562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2×200kVA SCB14所用变</a:t>
            </a:r>
          </a:p>
        </p:txBody>
      </p:sp>
      <p:sp>
        <p:nvSpPr>
          <p:cNvPr id="12" name="aux-body-3">
            <a:extLst xmlns:a="http://schemas.openxmlformats.org/drawingml/2006/main">
              <a:ext uri="{FF2B5EF4-FFF2-40B4-BE49-F238E27FC236}">
                <a16:creationId xmlns:a16="http://schemas.microsoft.com/office/drawing/2014/main" id="{B031D8B6-122E-41D5-9DB4-4C58BAA6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10/0.4kV，干式，Dyn11
uk=4%；最严192.913kVA
一运一备，0.4kV母联闭合</a:t>
            </a:r>
          </a:p>
        </p:txBody>
      </p:sp>
    </p:spTree>
    <p:extLst>
      <p:ext uri="{BB962C8B-B14F-4D97-AF65-F5344CB8AC3E}">
        <p14:creationId xmlns:p14="http://schemas.microsoft.com/office/powerpoint/2010/main" val="1324118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E37EA4D-3B86-4E12-9D96-A0DBEB68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主变N-1是当前控制瓶颈，线路裕量仅2.864A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3D489653-B791-49B3-9B6B-2C0B3D4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6</a:t>
            </a:r>
          </a:p>
        </p:txBody>
      </p:sp>
      <p:sp>
        <p:nvSpPr>
          <p:cNvPr id="3" name="n1-card-1">
            <a:extLst xmlns:a="http://schemas.openxmlformats.org/drawingml/2006/main">
              <a:ext uri="{FF2B5EF4-FFF2-40B4-BE49-F238E27FC236}">
                <a16:creationId xmlns:a16="http://schemas.microsoft.com/office/drawing/2014/main" id="{A37B87F7-959D-4834-9686-61F18737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257300"/>
            <a:ext cx="414337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n1-card-title-1">
            <a:extLst xmlns:a="http://schemas.openxmlformats.org/drawingml/2006/main">
              <a:ext uri="{FF2B5EF4-FFF2-40B4-BE49-F238E27FC236}">
                <a16:creationId xmlns:a16="http://schemas.microsoft.com/office/drawing/2014/main" id="{1E51A5E6-5BCF-4131-BFCB-3B25FB90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95425"/>
            <a:ext cx="3524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正常方式</a:t>
            </a:r>
          </a:p>
        </p:txBody>
      </p:sp>
      <p:sp>
        <p:nvSpPr>
          <p:cNvPr id="5" name="n1-card-body-1">
            <a:extLst xmlns:a="http://schemas.openxmlformats.org/drawingml/2006/main">
              <a:ext uri="{FF2B5EF4-FFF2-40B4-BE49-F238E27FC236}">
                <a16:creationId xmlns:a16="http://schemas.microsoft.com/office/drawing/2014/main" id="{3454B400-74D9-4CD5-A2C5-9B770E8F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367.780A/回
双回平均分担</a:t>
            </a:r>
          </a:p>
        </p:txBody>
      </p:sp>
      <p:sp>
        <p:nvSpPr>
          <p:cNvPr id="6" name="n1-card-2">
            <a:extLst xmlns:a="http://schemas.openxmlformats.org/drawingml/2006/main">
              <a:ext uri="{FF2B5EF4-FFF2-40B4-BE49-F238E27FC236}">
                <a16:creationId xmlns:a16="http://schemas.microsoft.com/office/drawing/2014/main" id="{687CEEAF-B6B7-4CE0-A997-A5402912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09900"/>
            <a:ext cx="414337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n1-card-title-2">
            <a:extLst xmlns:a="http://schemas.openxmlformats.org/drawingml/2006/main">
              <a:ext uri="{FF2B5EF4-FFF2-40B4-BE49-F238E27FC236}">
                <a16:creationId xmlns:a16="http://schemas.microsoft.com/office/drawing/2014/main" id="{A4330A6B-42A3-4DFC-BFE0-E6AF7EA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48025"/>
            <a:ext cx="3524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线路单回N-1</a:t>
            </a:r>
          </a:p>
        </p:txBody>
      </p:sp>
      <p:sp>
        <p:nvSpPr>
          <p:cNvPr id="8" name="n1-card-body-2">
            <a:extLst xmlns:a="http://schemas.openxmlformats.org/drawingml/2006/main">
              <a:ext uri="{FF2B5EF4-FFF2-40B4-BE49-F238E27FC236}">
                <a16:creationId xmlns:a16="http://schemas.microsoft.com/office/drawing/2014/main" id="{7624BA6B-54F1-401C-9312-59857730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735.559A
单看线路需限发35.390%</a:t>
            </a:r>
          </a:p>
        </p:txBody>
      </p:sp>
      <p:sp>
        <p:nvSpPr>
          <p:cNvPr id="9" name="n1-card-3">
            <a:extLst xmlns:a="http://schemas.openxmlformats.org/drawingml/2006/main">
              <a:ext uri="{FF2B5EF4-FFF2-40B4-BE49-F238E27FC236}">
                <a16:creationId xmlns:a16="http://schemas.microsoft.com/office/drawing/2014/main" id="{BAE46CAC-F90C-4766-BEA4-B0B8C388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62500"/>
            <a:ext cx="414337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n1-card-title-3">
            <a:extLst xmlns:a="http://schemas.openxmlformats.org/drawingml/2006/main">
              <a:ext uri="{FF2B5EF4-FFF2-40B4-BE49-F238E27FC236}">
                <a16:creationId xmlns:a16="http://schemas.microsoft.com/office/drawing/2014/main" id="{575123A7-AC17-49E4-9396-A125768F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00625"/>
            <a:ext cx="3524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主变N-1限发后</a:t>
            </a:r>
          </a:p>
        </p:txBody>
      </p:sp>
      <p:sp>
        <p:nvSpPr>
          <p:cNvPr id="11" name="n1-card-body-3">
            <a:extLst xmlns:a="http://schemas.openxmlformats.org/drawingml/2006/main">
              <a:ext uri="{FF2B5EF4-FFF2-40B4-BE49-F238E27FC236}">
                <a16:creationId xmlns:a16="http://schemas.microsoft.com/office/drawing/2014/main" id="{1BE239F6-936D-4F3B-A869-8473E39D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864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472.377A
距课程载流量仅2.864A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00050" y="1295400"/>
          <a:ext xmlns:a="http://schemas.openxmlformats.org/drawingml/2006/main" cx="67056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e257f7325a44a2"/>
          </a:graphicData>
        </a:graphic>
      </p:graphicFrame>
    </p:spTree>
    <p:extLst>
      <p:ext uri="{BB962C8B-B14F-4D97-AF65-F5344CB8AC3E}">
        <p14:creationId xmlns:p14="http://schemas.microsoft.com/office/powerpoint/2010/main" val="2012926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D73DC51D-DAC4-4190-835C-DC3461E7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短路职责支持设备等级，35/10kV无需限流电抗器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79C42F9E-BF8B-41E1-966B-1C94D380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7</a:t>
            </a:r>
          </a:p>
        </p:txBody>
      </p:sp>
      <p:sp>
        <p:nvSpPr>
          <p:cNvPr id="3" name="sc-intro">
            <a:extLst xmlns:a="http://schemas.openxmlformats.org/drawingml/2006/main">
              <a:ext uri="{FF2B5EF4-FFF2-40B4-BE49-F238E27FC236}">
                <a16:creationId xmlns:a16="http://schemas.microsoft.com/office/drawing/2014/main" id="{B25A69B3-EB71-4A8B-A399-C0B0D4A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基准100MVA，设备按条件性最大职责预筛；16.291/15.638kA低于31.5kA能力。高压熔断器不作主回路设备；阻波器仅在采用电力载波时配置。</a:t>
            </a:r>
          </a:p>
        </p:txBody>
      </p:sp>
      <p:graphicFrame>
        <p:nvGraphicFramePr>
          <p:cNvPr id="9" name="表格 7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09750"/>
                <a:gridCol w="1809750"/>
                <a:gridCol w="2000250"/>
                <a:gridCol w="1809750"/>
                <a:gridCol w="2114550"/>
              </a:tblGrid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</a:rPr>
                        <a:t>电压级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</a:rPr>
                        <a:t>必选许可/kA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</a:rPr>
                        <a:t>条件最大/kA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</a:rPr>
                        <a:t>禁止敏感性/kA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</a:rPr>
                        <a:t>峰值预筛/kA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</a:rPr>
                        <a:t>候选开断/kA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220kV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4.033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7.385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18.798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35kV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13.265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16.291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25.694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41.470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31.5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10kV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14.492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15.638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28.472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39.808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</a:rPr>
                        <a:t>31.5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50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25E17BB-609F-431C-A4C1-2639FF25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220kV户外AIS按145m×90m课程站区组织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5B9EB0E0-4B1A-4F9F-A955-A119F664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8</a:t>
            </a:r>
          </a:p>
        </p:txBody>
      </p:sp>
      <p:sp>
        <p:nvSpPr>
          <p:cNvPr id="3" name="plan-image-frame">
            <a:extLst xmlns:a="http://schemas.openxmlformats.org/drawingml/2006/main">
              <a:ext uri="{FF2B5EF4-FFF2-40B4-BE49-F238E27FC236}">
                <a16:creationId xmlns:a16="http://schemas.microsoft.com/office/drawing/2014/main" id="{DB28F4CB-CC3E-4A9A-A308-052B76A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68580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plan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1797267304b17"/>
          <a:stretch xmlns:a="http://schemas.openxmlformats.org/drawingml/2006/main"/>
        </p:blipFill>
        <p:spPr>
          <a:xfrm xmlns:a="http://schemas.openxmlformats.org/drawingml/2006/main" flipH="0" flipV="0">
            <a:off x="512314" y="1333500"/>
            <a:ext cx="6633472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plan-card-1">
            <a:extLst xmlns:a="http://schemas.openxmlformats.org/drawingml/2006/main">
              <a:ext uri="{FF2B5EF4-FFF2-40B4-BE49-F238E27FC236}">
                <a16:creationId xmlns:a16="http://schemas.microsoft.com/office/drawing/2014/main" id="{3CA612AC-177D-435A-9E34-C8187DFD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57300"/>
            <a:ext cx="4171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plan-card-title-1">
            <a:extLst xmlns:a="http://schemas.openxmlformats.org/drawingml/2006/main">
              <a:ext uri="{FF2B5EF4-FFF2-40B4-BE49-F238E27FC236}">
                <a16:creationId xmlns:a16="http://schemas.microsoft.com/office/drawing/2014/main" id="{4F8125C8-EE99-407B-86A9-537B0878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95425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分相中型布置</a:t>
            </a:r>
          </a:p>
        </p:txBody>
      </p:sp>
      <p:sp>
        <p:nvSpPr>
          <p:cNvPr id="7" name="plan-card-body-1">
            <a:extLst xmlns:a="http://schemas.openxmlformats.org/drawingml/2006/main">
              <a:ext uri="{FF2B5EF4-FFF2-40B4-BE49-F238E27FC236}">
                <a16:creationId xmlns:a16="http://schemas.microsoft.com/office/drawing/2014/main" id="{976CC31E-6800-4552-8072-72828A5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71675"/>
            <a:ext cx="3562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线路、分段、主变间隔按14m典型功能节距组织</a:t>
            </a:r>
          </a:p>
        </p:txBody>
      </p:sp>
      <p:sp>
        <p:nvSpPr>
          <p:cNvPr id="8" name="plan-card-2">
            <a:extLst xmlns:a="http://schemas.openxmlformats.org/drawingml/2006/main">
              <a:ext uri="{FF2B5EF4-FFF2-40B4-BE49-F238E27FC236}">
                <a16:creationId xmlns:a16="http://schemas.microsoft.com/office/drawing/2014/main" id="{D105EB76-3036-41CC-B42F-2784001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4171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plan-card-title-2">
            <a:extLst xmlns:a="http://schemas.openxmlformats.org/drawingml/2006/main">
              <a:ext uri="{FF2B5EF4-FFF2-40B4-BE49-F238E27FC236}">
                <a16:creationId xmlns:a16="http://schemas.microsoft.com/office/drawing/2014/main" id="{CF950A1B-2587-4CC1-91C9-00B70601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48025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运输与检修</a:t>
            </a:r>
          </a:p>
        </p:txBody>
      </p:sp>
      <p:sp>
        <p:nvSpPr>
          <p:cNvPr id="10" name="plan-card-body-2">
            <a:extLst xmlns:a="http://schemas.openxmlformats.org/drawingml/2006/main">
              <a:ext uri="{FF2B5EF4-FFF2-40B4-BE49-F238E27FC236}">
                <a16:creationId xmlns:a16="http://schemas.microsoft.com/office/drawing/2014/main" id="{4553F2BA-64B8-48F4-9E3D-63845603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24275"/>
            <a:ext cx="3562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4m道路贯通，设备区、主变区与扩建区边界明确</a:t>
            </a:r>
          </a:p>
        </p:txBody>
      </p:sp>
      <p:sp>
        <p:nvSpPr>
          <p:cNvPr id="11" name="plan-card-3">
            <a:extLst xmlns:a="http://schemas.openxmlformats.org/drawingml/2006/main">
              <a:ext uri="{FF2B5EF4-FFF2-40B4-BE49-F238E27FC236}">
                <a16:creationId xmlns:a16="http://schemas.microsoft.com/office/drawing/2014/main" id="{5CE2D0E3-65E4-458B-9A86-43C0D7FC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4171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plan-card-title-3">
            <a:extLst xmlns:a="http://schemas.openxmlformats.org/drawingml/2006/main">
              <a:ext uri="{FF2B5EF4-FFF2-40B4-BE49-F238E27FC236}">
                <a16:creationId xmlns:a16="http://schemas.microsoft.com/office/drawing/2014/main" id="{3AF9B593-3A27-4CD7-B141-B6C9EAB6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00625"/>
            <a:ext cx="3562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课程几何</a:t>
            </a:r>
          </a:p>
        </p:txBody>
      </p:sp>
      <p:sp>
        <p:nvSpPr>
          <p:cNvPr id="13" name="plan-card-body-3">
            <a:extLst xmlns:a="http://schemas.openxmlformats.org/drawingml/2006/main">
              <a:ext uri="{FF2B5EF4-FFF2-40B4-BE49-F238E27FC236}">
                <a16:creationId xmlns:a16="http://schemas.microsoft.com/office/drawing/2014/main" id="{D2F85819-FD55-4615-B74C-125D016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76875"/>
            <a:ext cx="3562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相间中心距4m；保留L3远期出线位置</a:t>
            </a:r>
          </a:p>
        </p:txBody>
      </p:sp>
    </p:spTree>
    <p:extLst>
      <p:ext uri="{BB962C8B-B14F-4D97-AF65-F5344CB8AC3E}">
        <p14:creationId xmlns:p14="http://schemas.microsoft.com/office/powerpoint/2010/main" val="994239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61F2B12-D6BC-4C3F-A5EC-F8766A37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L1线路间隔详图补齐QS+ES、CVT与MOA设备链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FF89310E-883C-4541-8A28-8C112F3B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9</a:t>
            </a:r>
          </a:p>
        </p:txBody>
      </p:sp>
      <p:sp>
        <p:nvSpPr>
          <p:cNvPr id="3" name="section-image-frame">
            <a:extLst xmlns:a="http://schemas.openxmlformats.org/drawingml/2006/main">
              <a:ext uri="{FF2B5EF4-FFF2-40B4-BE49-F238E27FC236}">
                <a16:creationId xmlns:a16="http://schemas.microsoft.com/office/drawing/2014/main" id="{022EED74-2A45-4C30-8088-12E91D1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6191250" cy="437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section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009e09f624931"/>
          <a:stretch xmlns:a="http://schemas.openxmlformats.org/drawingml/2006/main"/>
        </p:blipFill>
        <p:spPr>
          <a:xfrm xmlns:a="http://schemas.openxmlformats.org/drawingml/2006/main" flipH="0" flipV="0">
            <a:off x="509264" y="1447800"/>
            <a:ext cx="5972821" cy="4219575"/>
          </a:xfrm>
          <a:prstGeom xmlns:a="http://schemas.openxmlformats.org/drawingml/2006/main" prst="rect">
            <a:avLst/>
          </a:prstGeom>
        </p:spPr>
      </p:pic>
      <p:sp>
        <p:nvSpPr>
          <p:cNvPr id="5" name="section-intro">
            <a:extLst xmlns:a="http://schemas.openxmlformats.org/drawingml/2006/main">
              <a:ext uri="{FF2B5EF4-FFF2-40B4-BE49-F238E27FC236}">
                <a16:creationId xmlns:a16="http://schemas.microsoft.com/office/drawing/2014/main" id="{9A61C808-A00C-430C-9205-CBBD91B0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57200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SEC-220-L1-01（A1，1:50）按管母—QS1—QF—TA—QS2+ES—CVT—MOA—出线构架组织；ES常开。设备外形与端子方向由厂家图覆盖。</a:t>
            </a:r>
          </a:p>
        </p:txBody>
      </p:sp>
      <p:sp>
        <p:nvSpPr>
          <p:cNvPr id="6" name="section-card-1">
            <a:extLst xmlns:a="http://schemas.openxmlformats.org/drawingml/2006/main">
              <a:ext uri="{FF2B5EF4-FFF2-40B4-BE49-F238E27FC236}">
                <a16:creationId xmlns:a16="http://schemas.microsoft.com/office/drawing/2014/main" id="{533581AE-B2BB-4878-BD64-74109DA6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71850"/>
            <a:ext cx="2095500" cy="23241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section-card-2">
            <a:extLst xmlns:a="http://schemas.openxmlformats.org/drawingml/2006/main">
              <a:ext uri="{FF2B5EF4-FFF2-40B4-BE49-F238E27FC236}">
                <a16:creationId xmlns:a16="http://schemas.microsoft.com/office/drawing/2014/main" id="{A43CB710-5AAE-49BC-B080-8155BC26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2095500" cy="23241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section-stat-1">
            <a:extLst xmlns:a="http://schemas.openxmlformats.org/drawingml/2006/main">
              <a:ext uri="{FF2B5EF4-FFF2-40B4-BE49-F238E27FC236}">
                <a16:creationId xmlns:a16="http://schemas.microsoft.com/office/drawing/2014/main" id="{8C7AF300-BD03-434A-A6EB-DBD5BAB6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16383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A1
1800 mm</a:t>
            </a:r>
          </a:p>
        </p:txBody>
      </p:sp>
      <p:sp>
        <p:nvSpPr>
          <p:cNvPr id="9" name="section-label-1">
            <a:extLst xmlns:a="http://schemas.openxmlformats.org/drawingml/2006/main">
              <a:ext uri="{FF2B5EF4-FFF2-40B4-BE49-F238E27FC236}">
                <a16:creationId xmlns:a16="http://schemas.microsoft.com/office/drawing/2014/main" id="{92BA99A1-ECE8-4190-913C-7A0B8E69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524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相对地
最小净距</a:t>
            </a:r>
          </a:p>
        </p:txBody>
      </p:sp>
      <p:sp>
        <p:nvSpPr>
          <p:cNvPr id="10" name="section-stat-2">
            <a:extLst xmlns:a="http://schemas.openxmlformats.org/drawingml/2006/main">
              <a:ext uri="{FF2B5EF4-FFF2-40B4-BE49-F238E27FC236}">
                <a16:creationId xmlns:a16="http://schemas.microsoft.com/office/drawing/2014/main" id="{C3A1F476-3CAE-48D9-96BD-BDDEC389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48100"/>
            <a:ext cx="16383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C
4300 mm</a:t>
            </a:r>
          </a:p>
        </p:txBody>
      </p:sp>
      <p:sp>
        <p:nvSpPr>
          <p:cNvPr id="11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E7F761F6-7B2C-408F-9E82-F217AD77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0"/>
            <a:ext cx="1524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带电体至
围栏/建筑</a:t>
            </a:r>
          </a:p>
        </p:txBody>
      </p:sp>
      <p:sp>
        <p:nvSpPr>
          <p:cNvPr id="12" name="section-other-clearances">
            <a:extLst xmlns:a="http://schemas.openxmlformats.org/drawingml/2006/main">
              <a:ext uri="{FF2B5EF4-FFF2-40B4-BE49-F238E27FC236}">
                <a16:creationId xmlns:a16="http://schemas.microsoft.com/office/drawing/2014/main" id="{B5CC5967-840B-459B-BACC-C9F8C054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055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其余课程净距：A2=2000mm · B1=2550mm · B2=1900mm · D=3800mm</a:t>
            </a:r>
          </a:p>
        </p:txBody>
      </p:sp>
    </p:spTree>
    <p:extLst>
      <p:ext uri="{BB962C8B-B14F-4D97-AF65-F5344CB8AC3E}">
        <p14:creationId xmlns:p14="http://schemas.microsoft.com/office/powerpoint/2010/main" val="17409885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B4889614-EA5A-403E-8855-7B0E3046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220kV分段及35/10kV母联断开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972ADB7C-097F-4169-84A7-1E695C2E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3" name="operation-intro">
            <a:extLst xmlns:a="http://schemas.openxmlformats.org/drawingml/2006/main">
              <a:ext uri="{FF2B5EF4-FFF2-40B4-BE49-F238E27FC236}">
                <a16:creationId xmlns:a16="http://schemas.microsoft.com/office/drawing/2014/main" id="{C1541F10-5064-4E2C-8210-F2859DA2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分段并非默认并列。系统转供、检修或事故恢复必须满足调度许可、同期检查、限发与保护联锁条件。</a:t>
            </a:r>
          </a:p>
        </p:txBody>
      </p:sp>
      <p:sp>
        <p:nvSpPr>
          <p:cNvPr id="4" name="operation-left">
            <a:extLst xmlns:a="http://schemas.openxmlformats.org/drawingml/2006/main">
              <a:ext uri="{FF2B5EF4-FFF2-40B4-BE49-F238E27FC236}">
                <a16:creationId xmlns:a16="http://schemas.microsoft.com/office/drawing/2014/main" id="{A3EA6A77-DD6F-47BF-9C9B-C98217D7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524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operation-left-title">
            <a:extLst xmlns:a="http://schemas.openxmlformats.org/drawingml/2006/main">
              <a:ext uri="{FF2B5EF4-FFF2-40B4-BE49-F238E27FC236}">
                <a16:creationId xmlns:a16="http://schemas.microsoft.com/office/drawing/2014/main" id="{41F216C5-37DD-46D1-864A-6761F794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4914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正常保持分列</a:t>
            </a:r>
          </a:p>
        </p:txBody>
      </p:sp>
      <p:sp>
        <p:nvSpPr>
          <p:cNvPr id="6" name="operation-left-card">
            <a:extLst xmlns:a="http://schemas.openxmlformats.org/drawingml/2006/main">
              <a:ext uri="{FF2B5EF4-FFF2-40B4-BE49-F238E27FC236}">
                <a16:creationId xmlns:a16="http://schemas.microsoft.com/office/drawing/2014/main" id="{411B4837-0C9B-4844-A022-419E6F6E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4914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00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220kV分段断开
35kV母联断开
10kV母联断开</a:t>
            </a:r>
          </a:p>
        </p:txBody>
      </p:sp>
      <p:sp>
        <p:nvSpPr>
          <p:cNvPr id="7" name="operation-right">
            <a:extLst xmlns:a="http://schemas.openxmlformats.org/drawingml/2006/main">
              <a:ext uri="{FF2B5EF4-FFF2-40B4-BE49-F238E27FC236}">
                <a16:creationId xmlns:a16="http://schemas.microsoft.com/office/drawing/2014/main" id="{FD899AB5-9B24-41DE-85EB-1C884DA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5524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operation-right-title">
            <a:extLst xmlns:a="http://schemas.openxmlformats.org/drawingml/2006/main">
              <a:ext uri="{FF2B5EF4-FFF2-40B4-BE49-F238E27FC236}">
                <a16:creationId xmlns:a16="http://schemas.microsoft.com/office/drawing/2014/main" id="{68EB9ABB-EFB1-47A5-9459-9AE89FA0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4914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仅0.4kV母联闭合</a:t>
            </a:r>
          </a:p>
        </p:txBody>
      </p:sp>
      <p:sp>
        <p:nvSpPr>
          <p:cNvPr id="9" name="operation-right-card">
            <a:extLst xmlns:a="http://schemas.openxmlformats.org/drawingml/2006/main">
              <a:ext uri="{FF2B5EF4-FFF2-40B4-BE49-F238E27FC236}">
                <a16:creationId xmlns:a16="http://schemas.microsoft.com/office/drawing/2014/main" id="{8EE528E7-DFF7-4938-8E93-4F94C78B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4914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00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一台所用变运行
另一台进线断开
形成轮换暗备用</a:t>
            </a:r>
          </a:p>
        </p:txBody>
      </p:sp>
      <p:sp>
        <p:nvSpPr>
          <p:cNvPr id="10" name="operation-left-detail">
            <a:extLst xmlns:a="http://schemas.openxmlformats.org/drawingml/2006/main">
              <a:ext uri="{FF2B5EF4-FFF2-40B4-BE49-F238E27FC236}">
                <a16:creationId xmlns:a16="http://schemas.microsoft.com/office/drawing/2014/main" id="{B0759554-BA3B-48F7-989C-20BBD1AF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49149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禁止未经许可并列两套220kV系统
禁止两台健康主变经35kV母联并列
禁止两台健康T10经10kV母联并列</a:t>
            </a:r>
          </a:p>
        </p:txBody>
      </p:sp>
      <p:sp>
        <p:nvSpPr>
          <p:cNvPr id="11" name="operation-right-detail">
            <a:extLst xmlns:a="http://schemas.openxmlformats.org/drawingml/2006/main">
              <a:ext uri="{FF2B5EF4-FFF2-40B4-BE49-F238E27FC236}">
                <a16:creationId xmlns:a16="http://schemas.microsoft.com/office/drawing/2014/main" id="{ED37527D-D4B5-401F-A1B6-E778D8EF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9149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母联合闸前退出受电/故障段接地源
仅保留健康侧1套低电阻接地源
禁止两套低电阻接地源并联</a:t>
            </a:r>
          </a:p>
        </p:txBody>
      </p:sp>
    </p:spTree>
    <p:extLst>
      <p:ext uri="{BB962C8B-B14F-4D97-AF65-F5344CB8AC3E}">
        <p14:creationId xmlns:p14="http://schemas.microsoft.com/office/powerpoint/2010/main" val="1839885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clusion-eyebrow">
            <a:extLst xmlns:a="http://schemas.openxmlformats.org/drawingml/2006/main">
              <a:ext uri="{FF2B5EF4-FFF2-40B4-BE49-F238E27FC236}">
                <a16:creationId xmlns:a16="http://schemas.microsoft.com/office/drawing/2014/main" id="{DC968EF7-3B3F-45CB-A6CB-F72ADE3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设计结论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776D1969-BD2F-453B-947D-F503B4D8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810750" cy="27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方案完整，边界清晰，
四张A1图可直接临摹</a:t>
            </a:r>
          </a:p>
        </p:txBody>
      </p:sp>
      <p:sp>
        <p:nvSpPr>
          <p:cNvPr id="3" name="conclusion-details">
            <a:extLst xmlns:a="http://schemas.openxmlformats.org/drawingml/2006/main">
              <a:ext uri="{FF2B5EF4-FFF2-40B4-BE49-F238E27FC236}">
                <a16:creationId xmlns:a16="http://schemas.microsoft.com/office/drawing/2014/main" id="{AEB6781F-01E8-492F-A2F5-3DDF331D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7239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2×180MVA主变 + 2×31.5MVA T10
2×±12Mvar SVG + 2×200kVA所用变
SLD-01 / LAY-220-01 / SEC-220-01
SEC-220-L1-01：四张A1图已完成</a:t>
            </a:r>
          </a:p>
        </p:txBody>
      </p:sp>
      <p:sp>
        <p:nvSpPr>
          <p:cNvPr id="4" name="conclusion-boundary">
            <a:extLst xmlns:a="http://schemas.openxmlformats.org/drawingml/2006/main">
              <a:ext uri="{FF2B5EF4-FFF2-40B4-BE49-F238E27FC236}">
                <a16:creationId xmlns:a16="http://schemas.microsoft.com/office/drawing/2014/main" id="{63078093-9D3D-40F3-A922-4430E870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76875"/>
            <a:ext cx="38385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课程设计底稿，非施工图；工程实施前须按现行标准与厂家资料复核。</a:t>
            </a:r>
          </a:p>
        </p:txBody>
      </p:sp>
    </p:spTree>
    <p:extLst>
      <p:ext uri="{BB962C8B-B14F-4D97-AF65-F5344CB8AC3E}">
        <p14:creationId xmlns:p14="http://schemas.microsoft.com/office/powerpoint/2010/main" val="572764240"/>
      </p:ext>
    </p:extLst>
  </p:cSld>
</p:sld>
</file>

<file path=ppt/theme/theme1.xml><?xml version="1.0" encoding="utf-8"?>
<a:theme xmlns:a="http://schemas.openxmlformats.org/drawingml/2006/main" name="课程设计主题">
  <a:themeElements>
    <a:clrScheme name="课程设计主题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课程设计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PowerPoint</ap:Application>
  <ap:PresentationFormat>On-screen Show (16:9)</ap:PresentationFormat>
  <ap:Slides>11</ap:Slides>
  <ap:Notes>0</ap:Notes>
  <ap:HiddenSlides>0</ap:HiddenSlides>
  <ap:SharedDoc>false</ap:SharedDoc>
  <ap:DocSecurity>0</ap:DocSecurity>
  <ap:Template>课程设计主题</ap:Template>
  <ap:Company/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课程设计项目组（公开版）</dc:creator>
  <cp:lastModifiedBy>课程设计项目组（公开版）</cp:lastModifiedBy>
  <dc:title>220kV新能源汇集变电所电气一次部分初步设计答辩汇报</dc:title>
  <dcterms:created xsi:type="dcterms:W3CDTF">2026-07-16T02:25:10.5100000Z</dcterms:created>
  <dcterms:modified xsi:type="dcterms:W3CDTF">2026-07-16T02:25:10.5100000Z</dcterms:modified>
</cp:coreProperties>
</file>