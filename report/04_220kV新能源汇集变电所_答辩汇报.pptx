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运行电流/A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>
                    <a:solidFill>
                      <a:srgbClr val="000000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正常双回
每回</c:v>
              </c:pt>
              <c:pt idx="1">
                <c:v>单回承担
全部送出</c:v>
              </c:pt>
              <c:pt idx="2">
                <c:v>主变N-1
限发后</c:v>
              </c:pt>
            </c:strLit>
          </c:cat>
          <c:val>
            <c:numLit>
              <c:formatCode>0.000</c:formatCode>
              <c:ptCount val="3"/>
              <c:pt idx="0">
                <c:v>367.78</c:v>
              </c:pt>
              <c:pt idx="1">
                <c:v>735.55899999999997</c:v>
              </c:pt>
              <c:pt idx="2">
                <c:v>472.37700000000001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669-491E-9537-90F767DEEEB8}"/>
            </c:ext>
          </c:extLst>
        </c:ser>
        <c:ser>
          <c:idx val="1"/>
          <c:order val="1"/>
          <c:tx>
            <c:v>41℃课程载流量/A</c:v>
          </c:tx>
          <c:spPr>
            <a:solidFill>
              <a:srgbClr val="D0EDF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>
                    <a:solidFill>
                      <a:srgbClr val="000000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正常双回
每回</c:v>
              </c:pt>
              <c:pt idx="1">
                <c:v>单回承担
全部送出</c:v>
              </c:pt>
              <c:pt idx="2">
                <c:v>主变N-1
限发后</c:v>
              </c:pt>
            </c:strLit>
          </c:cat>
          <c:val>
            <c:numLit>
              <c:formatCode>0.000</c:formatCode>
              <c:ptCount val="3"/>
              <c:pt idx="0">
                <c:v>475.24200000000002</c:v>
              </c:pt>
              <c:pt idx="1">
                <c:v>475.24200000000002</c:v>
              </c:pt>
              <c:pt idx="2">
                <c:v>475.24200000000002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669-491E-9537-90F767DEEEB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800"/>
          <c:min val="0"/>
        </c:scaling>
        <c:delete val="0"/>
        <c:axPos val="l"/>
        <c:majorGridlines>
          <c:spPr>
            <a:ln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sz="1050">
                    <a:solidFill>
                      <a:srgbClr val="000000"/>
                    </a:solidFill>
                  </a:rPr>
                  <a:t>电流/A</a:t>
                </a:r>
              </a:p>
            </c:rich>
          </c:tx>
          <c:overlay val="1"/>
        </c:title>
        <c:numFmt formatCode="0" sourceLinked="0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zh-CN"/>
          </a:p>
        </c:txPr>
        <c:crossAx val="48650112"/>
        <c:crosses val="autoZero"/>
        <c:crossBetween val="between"/>
        <c:majorUnit val="200"/>
      </c:valAx>
      <c:spPr>
        <a:noFill/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50">
              <a:solidFill>
                <a:srgbClr val="000000"/>
              </a:solidFill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ver-eyebrow">
            <a:extLst>
              <a:ext uri="{FF2B5EF4-FFF2-40B4-BE49-F238E27FC236}">
                <a16:creationId xmlns:a16="http://schemas.microsoft.com/office/drawing/2014/main" id="{7AFB5632-A63A-4516-B70F-6AF7AD89B682}"/>
              </a:ext>
            </a:extLst>
          </p:cNvPr>
          <p:cNvSpPr>
            <a:spLocks noGrp="1"/>
          </p:cNvSpPr>
          <p:nvPr/>
        </p:nvSpPr>
        <p:spPr>
          <a:xfrm>
            <a:off x="400050" y="381000"/>
            <a:ext cx="8096250" cy="4000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《发电厂电气部分》课程设计 · 第5组</a:t>
            </a:r>
          </a:p>
        </p:txBody>
      </p:sp>
      <p:sp>
        <p:nvSpPr>
          <p:cNvPr id="2" name="cover-title">
            <a:extLst>
              <a:ext uri="{FF2B5EF4-FFF2-40B4-BE49-F238E27FC236}">
                <a16:creationId xmlns:a16="http://schemas.microsoft.com/office/drawing/2014/main" id="{91029E56-C98D-48B2-895A-B5EA2B731256}"/>
              </a:ext>
            </a:extLst>
          </p:cNvPr>
          <p:cNvSpPr>
            <a:spLocks noGrp="1"/>
          </p:cNvSpPr>
          <p:nvPr/>
        </p:nvSpPr>
        <p:spPr>
          <a:xfrm>
            <a:off x="400050" y="1676400"/>
            <a:ext cx="10668000" cy="266700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defRPr sz="51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220kV新能源汇集变电所
电气一次部分初步设计</a:t>
            </a:r>
          </a:p>
        </p:txBody>
      </p:sp>
      <p:sp>
        <p:nvSpPr>
          <p:cNvPr id="3" name="cover-subtitle">
            <a:extLst>
              <a:ext uri="{FF2B5EF4-FFF2-40B4-BE49-F238E27FC236}">
                <a16:creationId xmlns:a16="http://schemas.microsoft.com/office/drawing/2014/main" id="{1F2DEB35-5309-4D8F-B520-5839BBADFBE6}"/>
              </a:ext>
            </a:extLst>
          </p:cNvPr>
          <p:cNvSpPr>
            <a:spLocks noGrp="1"/>
          </p:cNvSpPr>
          <p:nvPr/>
        </p:nvSpPr>
        <p:spPr>
          <a:xfrm>
            <a:off x="400050" y="4895850"/>
            <a:ext cx="9906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21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主接线 · 负荷与短路计算 · 设备预筛 · 220kV AIS平断面</a:t>
            </a:r>
          </a:p>
        </p:txBody>
      </p:sp>
      <p:sp>
        <p:nvSpPr>
          <p:cNvPr id="4" name="cover-note">
            <a:extLst>
              <a:ext uri="{FF2B5EF4-FFF2-40B4-BE49-F238E27FC236}">
                <a16:creationId xmlns:a16="http://schemas.microsoft.com/office/drawing/2014/main" id="{FE13D2A4-80EB-48CD-A2DD-D9022A4F7AB2}"/>
              </a:ext>
            </a:extLst>
          </p:cNvPr>
          <p:cNvSpPr>
            <a:spLocks noGrp="1"/>
          </p:cNvSpPr>
          <p:nvPr/>
        </p:nvSpPr>
        <p:spPr>
          <a:xfrm>
            <a:off x="400050" y="5953125"/>
            <a:ext cx="5905500" cy="3238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3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t>公开答辩版｜姓名、学号、班级与签字留空</a:t>
            </a:r>
          </a:p>
        </p:txBody>
      </p:sp>
    </p:spTree>
    <p:extLst>
      <p:ext uri="{BB962C8B-B14F-4D97-AF65-F5344CB8AC3E}">
        <p14:creationId xmlns:p14="http://schemas.microsoft.com/office/powerpoint/2010/main" val="40887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2-title">
            <a:extLst>
              <a:ext uri="{FF2B5EF4-FFF2-40B4-BE49-F238E27FC236}">
                <a16:creationId xmlns:a16="http://schemas.microsoft.com/office/drawing/2014/main" id="{4E721D93-7A37-4BA3-9063-68AC51566C2D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本设计以270MW新能源汇集与四级电压系统为主线</a:t>
            </a:r>
          </a:p>
        </p:txBody>
      </p:sp>
      <p:sp>
        <p:nvSpPr>
          <p:cNvPr id="2" name="page-2">
            <a:extLst>
              <a:ext uri="{FF2B5EF4-FFF2-40B4-BE49-F238E27FC236}">
                <a16:creationId xmlns:a16="http://schemas.microsoft.com/office/drawing/2014/main" id="{17BFD13C-AE77-4CB7-80D8-C2C71ADE4DBD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</a:t>
            </a:r>
          </a:p>
        </p:txBody>
      </p:sp>
      <p:sp>
        <p:nvSpPr>
          <p:cNvPr id="3" name="scope-rule">
            <a:extLst>
              <a:ext uri="{FF2B5EF4-FFF2-40B4-BE49-F238E27FC236}">
                <a16:creationId xmlns:a16="http://schemas.microsoft.com/office/drawing/2014/main" id="{343C149A-0FCC-4FCC-A9F0-4DBFF2F8E7CA}"/>
              </a:ext>
            </a:extLst>
          </p:cNvPr>
          <p:cNvSpPr>
            <a:spLocks noGrp="1"/>
          </p:cNvSpPr>
          <p:nvPr/>
        </p:nvSpPr>
        <p:spPr>
          <a:xfrm>
            <a:off x="6086475" y="1752600"/>
            <a:ext cx="14288" cy="400050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</p:sp>
      <p:sp>
        <p:nvSpPr>
          <p:cNvPr id="4" name="scope-left-heading">
            <a:extLst>
              <a:ext uri="{FF2B5EF4-FFF2-40B4-BE49-F238E27FC236}">
                <a16:creationId xmlns:a16="http://schemas.microsoft.com/office/drawing/2014/main" id="{3713B0E0-CDF8-45FE-A182-2093ABF2A865}"/>
              </a:ext>
            </a:extLst>
          </p:cNvPr>
          <p:cNvSpPr>
            <a:spLocks noGrp="1"/>
          </p:cNvSpPr>
          <p:nvPr/>
        </p:nvSpPr>
        <p:spPr>
          <a:xfrm>
            <a:off x="400050" y="1924050"/>
            <a:ext cx="4953000" cy="4381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设计对象</a:t>
            </a:r>
          </a:p>
        </p:txBody>
      </p:sp>
      <p:sp>
        <p:nvSpPr>
          <p:cNvPr id="5" name="scope-left-body">
            <a:extLst>
              <a:ext uri="{FF2B5EF4-FFF2-40B4-BE49-F238E27FC236}">
                <a16:creationId xmlns:a16="http://schemas.microsoft.com/office/drawing/2014/main" id="{28DAECE4-0D0E-4A59-85AA-4B784C4CBC42}"/>
              </a:ext>
            </a:extLst>
          </p:cNvPr>
          <p:cNvSpPr>
            <a:spLocks noGrp="1"/>
          </p:cNvSpPr>
          <p:nvPr/>
        </p:nvSpPr>
        <p:spPr>
          <a:xfrm>
            <a:off x="400050" y="2647950"/>
            <a:ext cx="4953000" cy="2857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21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220 / 35 / 10 / 0.4kV
12回35kV集电线路
两回220kV本期送出，预留L3</a:t>
            </a:r>
          </a:p>
        </p:txBody>
      </p:sp>
      <p:sp>
        <p:nvSpPr>
          <p:cNvPr id="6" name="scope-right-heading">
            <a:extLst>
              <a:ext uri="{FF2B5EF4-FFF2-40B4-BE49-F238E27FC236}">
                <a16:creationId xmlns:a16="http://schemas.microsoft.com/office/drawing/2014/main" id="{B013B5D0-F358-4E32-B7C9-7D28688A6FC4}"/>
              </a:ext>
            </a:extLst>
          </p:cNvPr>
          <p:cNvSpPr>
            <a:spLocks noGrp="1"/>
          </p:cNvSpPr>
          <p:nvPr/>
        </p:nvSpPr>
        <p:spPr>
          <a:xfrm>
            <a:off x="6610350" y="1924050"/>
            <a:ext cx="4953000" cy="4381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交付范围</a:t>
            </a:r>
          </a:p>
        </p:txBody>
      </p:sp>
      <p:sp>
        <p:nvSpPr>
          <p:cNvPr id="7" name="scope-right-body">
            <a:extLst>
              <a:ext uri="{FF2B5EF4-FFF2-40B4-BE49-F238E27FC236}">
                <a16:creationId xmlns:a16="http://schemas.microsoft.com/office/drawing/2014/main" id="{1BF28EA1-DC47-489D-A03B-142F43D2428C}"/>
              </a:ext>
            </a:extLst>
          </p:cNvPr>
          <p:cNvSpPr>
            <a:spLocks noGrp="1"/>
          </p:cNvSpPr>
          <p:nvPr/>
        </p:nvSpPr>
        <p:spPr>
          <a:xfrm>
            <a:off x="6610350" y="2647950"/>
            <a:ext cx="4953000" cy="3048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20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技术设计说明书 + 计算书
SLD-01 主接线图
LAY-220-01 平面图
SEC-220-01 断面图
答辩清单与可追溯计算脚本</a:t>
            </a:r>
          </a:p>
        </p:txBody>
      </p:sp>
    </p:spTree>
    <p:extLst>
      <p:ext uri="{BB962C8B-B14F-4D97-AF65-F5344CB8AC3E}">
        <p14:creationId xmlns:p14="http://schemas.microsoft.com/office/powerpoint/2010/main" val="297745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3-title">
            <a:extLst>
              <a:ext uri="{FF2B5EF4-FFF2-40B4-BE49-F238E27FC236}">
                <a16:creationId xmlns:a16="http://schemas.microsoft.com/office/drawing/2014/main" id="{4B1D6989-E119-41F3-8EB8-0AFA431CE7B8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最终主接线通过分段与分列运行控制风险</a:t>
            </a:r>
          </a:p>
        </p:txBody>
      </p:sp>
      <p:sp>
        <p:nvSpPr>
          <p:cNvPr id="2" name="page-3">
            <a:extLst>
              <a:ext uri="{FF2B5EF4-FFF2-40B4-BE49-F238E27FC236}">
                <a16:creationId xmlns:a16="http://schemas.microsoft.com/office/drawing/2014/main" id="{16E0B328-A67E-4140-9C1F-6F3CB6913D92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3</a:t>
            </a:r>
          </a:p>
        </p:txBody>
      </p:sp>
      <p:sp>
        <p:nvSpPr>
          <p:cNvPr id="3" name="scheme-label">
            <a:extLst>
              <a:ext uri="{FF2B5EF4-FFF2-40B4-BE49-F238E27FC236}">
                <a16:creationId xmlns:a16="http://schemas.microsoft.com/office/drawing/2014/main" id="{28183C1B-A516-4426-9ED0-A9DF5AEDE7AF}"/>
              </a:ext>
            </a:extLst>
          </p:cNvPr>
          <p:cNvSpPr>
            <a:spLocks noGrp="1"/>
          </p:cNvSpPr>
          <p:nvPr/>
        </p:nvSpPr>
        <p:spPr>
          <a:xfrm>
            <a:off x="400050" y="1428750"/>
            <a:ext cx="4000500" cy="4000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1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方案结论</a:t>
            </a:r>
          </a:p>
        </p:txBody>
      </p:sp>
      <p:sp>
        <p:nvSpPr>
          <p:cNvPr id="4" name="scheme-copy">
            <a:extLst>
              <a:ext uri="{FF2B5EF4-FFF2-40B4-BE49-F238E27FC236}">
                <a16:creationId xmlns:a16="http://schemas.microsoft.com/office/drawing/2014/main" id="{56A249CA-12AC-46CB-8387-6930584B561A}"/>
              </a:ext>
            </a:extLst>
          </p:cNvPr>
          <p:cNvSpPr>
            <a:spLocks noGrp="1"/>
          </p:cNvSpPr>
          <p:nvPr/>
        </p:nvSpPr>
        <p:spPr>
          <a:xfrm>
            <a:off x="400050" y="2095500"/>
            <a:ext cx="4114800" cy="3714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220kV采用单母线分段；35kV和10kV均采用单母线两分段；0.4kV采用单母线分段。
正常运行时，220/35/10kV母联断开，0.4kV母联闭合。
T1、T2分别带35kV I/II段，T10与SVG按段配置。</a:t>
            </a:r>
          </a:p>
        </p:txBody>
      </p:sp>
      <p:sp>
        <p:nvSpPr>
          <p:cNvPr id="5" name="scheme-image-frame">
            <a:extLst>
              <a:ext uri="{FF2B5EF4-FFF2-40B4-BE49-F238E27FC236}">
                <a16:creationId xmlns:a16="http://schemas.microsoft.com/office/drawing/2014/main" id="{3AD9653A-1C2D-42C1-8CCE-DEA3C47B57B1}"/>
              </a:ext>
            </a:extLst>
          </p:cNvPr>
          <p:cNvSpPr>
            <a:spLocks noGrp="1"/>
          </p:cNvSpPr>
          <p:nvPr/>
        </p:nvSpPr>
        <p:spPr>
          <a:xfrm>
            <a:off x="4876800" y="1352550"/>
            <a:ext cx="6648450" cy="4695825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12" name="scheme-imag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85409" y="1428750"/>
            <a:ext cx="6431232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439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4-title">
            <a:extLst>
              <a:ext uri="{FF2B5EF4-FFF2-40B4-BE49-F238E27FC236}">
                <a16:creationId xmlns:a16="http://schemas.microsoft.com/office/drawing/2014/main" id="{B9E25054-EAEE-438C-9E23-399004624357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2×180MVA主变满足正常方式，N-1成为容量约束</a:t>
            </a:r>
          </a:p>
        </p:txBody>
      </p:sp>
      <p:sp>
        <p:nvSpPr>
          <p:cNvPr id="2" name="page-4">
            <a:extLst>
              <a:ext uri="{FF2B5EF4-FFF2-40B4-BE49-F238E27FC236}">
                <a16:creationId xmlns:a16="http://schemas.microsoft.com/office/drawing/2014/main" id="{180BE2F2-14AA-4B3C-83FB-A13A941DFD91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4</a:t>
            </a:r>
          </a:p>
        </p:txBody>
      </p:sp>
      <p:sp>
        <p:nvSpPr>
          <p:cNvPr id="3" name="main-t-intro">
            <a:extLst>
              <a:ext uri="{FF2B5EF4-FFF2-40B4-BE49-F238E27FC236}">
                <a16:creationId xmlns:a16="http://schemas.microsoft.com/office/drawing/2014/main" id="{9F88B77E-50EB-4261-A5D6-1A6C28B0CC99}"/>
              </a:ext>
            </a:extLst>
          </p:cNvPr>
          <p:cNvSpPr>
            <a:spLocks noGrp="1"/>
          </p:cNvSpPr>
          <p:nvPr/>
        </p:nvSpPr>
        <p:spPr>
          <a:xfrm>
            <a:off x="400050" y="1200150"/>
            <a:ext cx="11391900" cy="1238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35kV折算负荷为280.285714MVA，主变总装机360MVA。正常双机平均分担；任一台退出后，剩余主变无法覆盖全部汇集容量。</a:t>
            </a:r>
          </a:p>
        </p:txBody>
      </p:sp>
      <p:sp>
        <p:nvSpPr>
          <p:cNvPr id="4" name="main-t-card-1">
            <a:extLst>
              <a:ext uri="{FF2B5EF4-FFF2-40B4-BE49-F238E27FC236}">
                <a16:creationId xmlns:a16="http://schemas.microsoft.com/office/drawing/2014/main" id="{00EE80C4-4F64-4618-A9E7-2F05B6A7F0CD}"/>
              </a:ext>
            </a:extLst>
          </p:cNvPr>
          <p:cNvSpPr>
            <a:spLocks noGrp="1"/>
          </p:cNvSpPr>
          <p:nvPr/>
        </p:nvSpPr>
        <p:spPr>
          <a:xfrm>
            <a:off x="400050" y="3048000"/>
            <a:ext cx="3562350" cy="2952750"/>
          </a:xfrm>
          <a:prstGeom prst="roundRect">
            <a:avLst>
              <a:gd name="adj" fmla="val 2581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5" name="main-t-stat-1">
            <a:extLst>
              <a:ext uri="{FF2B5EF4-FFF2-40B4-BE49-F238E27FC236}">
                <a16:creationId xmlns:a16="http://schemas.microsoft.com/office/drawing/2014/main" id="{DE6CBDCF-D37E-48C9-94BB-23A614758E6F}"/>
              </a:ext>
            </a:extLst>
          </p:cNvPr>
          <p:cNvSpPr>
            <a:spLocks noGrp="1"/>
          </p:cNvSpPr>
          <p:nvPr/>
        </p:nvSpPr>
        <p:spPr>
          <a:xfrm>
            <a:off x="704850" y="3638550"/>
            <a:ext cx="2952750" cy="95250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defRPr sz="4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77.857%</a:t>
            </a:r>
          </a:p>
        </p:txBody>
      </p:sp>
      <p:sp>
        <p:nvSpPr>
          <p:cNvPr id="6" name="main-t-label-1">
            <a:extLst>
              <a:ext uri="{FF2B5EF4-FFF2-40B4-BE49-F238E27FC236}">
                <a16:creationId xmlns:a16="http://schemas.microsoft.com/office/drawing/2014/main" id="{22C3A147-49CD-4D34-8D82-9656357FA4FB}"/>
              </a:ext>
            </a:extLst>
          </p:cNvPr>
          <p:cNvSpPr>
            <a:spLocks noGrp="1"/>
          </p:cNvSpPr>
          <p:nvPr/>
        </p:nvSpPr>
        <p:spPr>
          <a:xfrm>
            <a:off x="704850" y="5000625"/>
            <a:ext cx="2952750" cy="628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正常双机平均负载率</a:t>
            </a:r>
          </a:p>
        </p:txBody>
      </p:sp>
      <p:sp>
        <p:nvSpPr>
          <p:cNvPr id="7" name="main-t-card-2">
            <a:extLst>
              <a:ext uri="{FF2B5EF4-FFF2-40B4-BE49-F238E27FC236}">
                <a16:creationId xmlns:a16="http://schemas.microsoft.com/office/drawing/2014/main" id="{4F6656AA-578E-446F-B81B-0A59F5C12783}"/>
              </a:ext>
            </a:extLst>
          </p:cNvPr>
          <p:cNvSpPr>
            <a:spLocks noGrp="1"/>
          </p:cNvSpPr>
          <p:nvPr/>
        </p:nvSpPr>
        <p:spPr>
          <a:xfrm>
            <a:off x="4314825" y="3048000"/>
            <a:ext cx="3562350" cy="2952750"/>
          </a:xfrm>
          <a:prstGeom prst="roundRect">
            <a:avLst>
              <a:gd name="adj" fmla="val 2581"/>
            </a:avLst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</p:sp>
      <p:sp>
        <p:nvSpPr>
          <p:cNvPr id="8" name="main-t-stat-2">
            <a:extLst>
              <a:ext uri="{FF2B5EF4-FFF2-40B4-BE49-F238E27FC236}">
                <a16:creationId xmlns:a16="http://schemas.microsoft.com/office/drawing/2014/main" id="{1761479B-0C74-4A7B-AC6C-A3505B481CF6}"/>
              </a:ext>
            </a:extLst>
          </p:cNvPr>
          <p:cNvSpPr>
            <a:spLocks noGrp="1"/>
          </p:cNvSpPr>
          <p:nvPr/>
        </p:nvSpPr>
        <p:spPr>
          <a:xfrm>
            <a:off x="4619625" y="3638550"/>
            <a:ext cx="2952750" cy="95250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defRPr sz="4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35.7798%</a:t>
            </a:r>
          </a:p>
        </p:txBody>
      </p:sp>
      <p:sp>
        <p:nvSpPr>
          <p:cNvPr id="9" name="main-t-label-2">
            <a:extLst>
              <a:ext uri="{FF2B5EF4-FFF2-40B4-BE49-F238E27FC236}">
                <a16:creationId xmlns:a16="http://schemas.microsoft.com/office/drawing/2014/main" id="{17963DF6-9414-4B8A-A9AA-77CF05901377}"/>
              </a:ext>
            </a:extLst>
          </p:cNvPr>
          <p:cNvSpPr>
            <a:spLocks noGrp="1"/>
          </p:cNvSpPr>
          <p:nvPr/>
        </p:nvSpPr>
        <p:spPr>
          <a:xfrm>
            <a:off x="4619625" y="5000625"/>
            <a:ext cx="2952750" cy="628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主变N-1限发比例</a:t>
            </a:r>
          </a:p>
        </p:txBody>
      </p:sp>
      <p:sp>
        <p:nvSpPr>
          <p:cNvPr id="10" name="main-t-card-3">
            <a:extLst>
              <a:ext uri="{FF2B5EF4-FFF2-40B4-BE49-F238E27FC236}">
                <a16:creationId xmlns:a16="http://schemas.microsoft.com/office/drawing/2014/main" id="{C442BE61-D5E3-4298-AE33-3DC3A9A9364C}"/>
              </a:ext>
            </a:extLst>
          </p:cNvPr>
          <p:cNvSpPr>
            <a:spLocks noGrp="1"/>
          </p:cNvSpPr>
          <p:nvPr/>
        </p:nvSpPr>
        <p:spPr>
          <a:xfrm>
            <a:off x="8229600" y="3048000"/>
            <a:ext cx="3562350" cy="2952750"/>
          </a:xfrm>
          <a:prstGeom prst="roundRect">
            <a:avLst>
              <a:gd name="adj" fmla="val 2581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11" name="main-t-stat-3">
            <a:extLst>
              <a:ext uri="{FF2B5EF4-FFF2-40B4-BE49-F238E27FC236}">
                <a16:creationId xmlns:a16="http://schemas.microsoft.com/office/drawing/2014/main" id="{86BF1A6B-378E-4C08-B8FC-EE870D6945BA}"/>
              </a:ext>
            </a:extLst>
          </p:cNvPr>
          <p:cNvSpPr>
            <a:spLocks noGrp="1"/>
          </p:cNvSpPr>
          <p:nvPr/>
        </p:nvSpPr>
        <p:spPr>
          <a:xfrm>
            <a:off x="8534400" y="3638550"/>
            <a:ext cx="2952750" cy="952500"/>
          </a:xfrm>
          <a:prstGeom prst="rect">
            <a:avLst/>
          </a:prstGeom>
        </p:spPr>
        <p:txBody>
          <a:bodyPr wrap="square" lIns="0" tIns="0" rIns="0" bIns="0" anchor="b">
            <a:normAutofit fontScale="92237"/>
          </a:bodyPr>
          <a:lstStyle/>
          <a:p>
            <a:pPr algn="l">
              <a:defRPr sz="37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100.286 MVA</a:t>
            </a:r>
          </a:p>
        </p:txBody>
      </p:sp>
      <p:sp>
        <p:nvSpPr>
          <p:cNvPr id="12" name="main-t-label-3">
            <a:extLst>
              <a:ext uri="{FF2B5EF4-FFF2-40B4-BE49-F238E27FC236}">
                <a16:creationId xmlns:a16="http://schemas.microsoft.com/office/drawing/2014/main" id="{D757AE0D-DA59-4AB8-B4F1-F74D1EECCE2A}"/>
              </a:ext>
            </a:extLst>
          </p:cNvPr>
          <p:cNvSpPr>
            <a:spLocks noGrp="1"/>
          </p:cNvSpPr>
          <p:nvPr/>
        </p:nvSpPr>
        <p:spPr>
          <a:xfrm>
            <a:off x="8534400" y="5000625"/>
            <a:ext cx="2952750" cy="628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单台运行容量缺口</a:t>
            </a:r>
          </a:p>
        </p:txBody>
      </p:sp>
    </p:spTree>
    <p:extLst>
      <p:ext uri="{BB962C8B-B14F-4D97-AF65-F5344CB8AC3E}">
        <p14:creationId xmlns:p14="http://schemas.microsoft.com/office/powerpoint/2010/main" val="109694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5-title">
            <a:extLst>
              <a:ext uri="{FF2B5EF4-FFF2-40B4-BE49-F238E27FC236}">
                <a16:creationId xmlns:a16="http://schemas.microsoft.com/office/drawing/2014/main" id="{995F7D8D-9BE6-4FF0-9A79-9A553198D882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T10、SVG与所用变构成完整的辅助供电链</a:t>
            </a:r>
          </a:p>
        </p:txBody>
      </p:sp>
      <p:sp>
        <p:nvSpPr>
          <p:cNvPr id="2" name="page-5">
            <a:extLst>
              <a:ext uri="{FF2B5EF4-FFF2-40B4-BE49-F238E27FC236}">
                <a16:creationId xmlns:a16="http://schemas.microsoft.com/office/drawing/2014/main" id="{E4BF8B3C-C93F-4866-9E1C-1C0976A307FC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5</a:t>
            </a:r>
          </a:p>
        </p:txBody>
      </p:sp>
      <p:sp>
        <p:nvSpPr>
          <p:cNvPr id="3" name="aux-intro">
            <a:extLst>
              <a:ext uri="{FF2B5EF4-FFF2-40B4-BE49-F238E27FC236}">
                <a16:creationId xmlns:a16="http://schemas.microsoft.com/office/drawing/2014/main" id="{DD51C7C7-3C78-4A6E-816C-0098E3C43630}"/>
              </a:ext>
            </a:extLst>
          </p:cNvPr>
          <p:cNvSpPr>
            <a:spLocks noGrp="1"/>
          </p:cNvSpPr>
          <p:nvPr/>
        </p:nvSpPr>
        <p:spPr>
          <a:xfrm>
            <a:off x="400050" y="1200150"/>
            <a:ext cx="11391900" cy="7048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容量选择与主接线保持逐段对应，兼顾正常运行、单元退出和站用电连续性。</a:t>
            </a:r>
          </a:p>
        </p:txBody>
      </p:sp>
      <p:sp>
        <p:nvSpPr>
          <p:cNvPr id="4" name="aux-accent-1">
            <a:extLst>
              <a:ext uri="{FF2B5EF4-FFF2-40B4-BE49-F238E27FC236}">
                <a16:creationId xmlns:a16="http://schemas.microsoft.com/office/drawing/2014/main" id="{0F9A62F9-9896-43DC-8E49-C63A395F37A2}"/>
              </a:ext>
            </a:extLst>
          </p:cNvPr>
          <p:cNvSpPr>
            <a:spLocks noGrp="1"/>
          </p:cNvSpPr>
          <p:nvPr/>
        </p:nvSpPr>
        <p:spPr>
          <a:xfrm>
            <a:off x="400050" y="2514600"/>
            <a:ext cx="3562350" cy="57150"/>
          </a:xfrm>
          <a:prstGeom prst="rect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</p:sp>
      <p:sp>
        <p:nvSpPr>
          <p:cNvPr id="5" name="aux-title-1">
            <a:extLst>
              <a:ext uri="{FF2B5EF4-FFF2-40B4-BE49-F238E27FC236}">
                <a16:creationId xmlns:a16="http://schemas.microsoft.com/office/drawing/2014/main" id="{349541FF-586E-49D7-AA08-75FBC26EBD36}"/>
              </a:ext>
            </a:extLst>
          </p:cNvPr>
          <p:cNvSpPr>
            <a:spLocks noGrp="1"/>
          </p:cNvSpPr>
          <p:nvPr/>
        </p:nvSpPr>
        <p:spPr>
          <a:xfrm>
            <a:off x="400050" y="2895600"/>
            <a:ext cx="356235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2×31.5MVA T10</a:t>
            </a:r>
          </a:p>
        </p:txBody>
      </p:sp>
      <p:sp>
        <p:nvSpPr>
          <p:cNvPr id="6" name="aux-body-1">
            <a:extLst>
              <a:ext uri="{FF2B5EF4-FFF2-40B4-BE49-F238E27FC236}">
                <a16:creationId xmlns:a16="http://schemas.microsoft.com/office/drawing/2014/main" id="{EE01B406-FAD2-4306-8C28-E3A91BA43296}"/>
              </a:ext>
            </a:extLst>
          </p:cNvPr>
          <p:cNvSpPr>
            <a:spLocks noGrp="1"/>
          </p:cNvSpPr>
          <p:nvPr/>
        </p:nvSpPr>
        <p:spPr>
          <a:xfrm>
            <a:off x="400050" y="3857625"/>
            <a:ext cx="3562350" cy="2000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35/10.5kV，uk=8%
正常均衡负载率39.58%
N-1最严负载率79.17%</a:t>
            </a:r>
          </a:p>
        </p:txBody>
      </p:sp>
      <p:sp>
        <p:nvSpPr>
          <p:cNvPr id="7" name="aux-accent-2">
            <a:extLst>
              <a:ext uri="{FF2B5EF4-FFF2-40B4-BE49-F238E27FC236}">
                <a16:creationId xmlns:a16="http://schemas.microsoft.com/office/drawing/2014/main" id="{86F6679C-E351-4708-B335-BCFD38FD79F4}"/>
              </a:ext>
            </a:extLst>
          </p:cNvPr>
          <p:cNvSpPr>
            <a:spLocks noGrp="1"/>
          </p:cNvSpPr>
          <p:nvPr/>
        </p:nvSpPr>
        <p:spPr>
          <a:xfrm>
            <a:off x="4314825" y="2514600"/>
            <a:ext cx="3562350" cy="57150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</p:sp>
      <p:sp>
        <p:nvSpPr>
          <p:cNvPr id="8" name="aux-title-2">
            <a:extLst>
              <a:ext uri="{FF2B5EF4-FFF2-40B4-BE49-F238E27FC236}">
                <a16:creationId xmlns:a16="http://schemas.microsoft.com/office/drawing/2014/main" id="{3C612C7C-49DF-4915-BDC8-0E1246F320B4}"/>
              </a:ext>
            </a:extLst>
          </p:cNvPr>
          <p:cNvSpPr>
            <a:spLocks noGrp="1"/>
          </p:cNvSpPr>
          <p:nvPr/>
        </p:nvSpPr>
        <p:spPr>
          <a:xfrm>
            <a:off x="4314825" y="2895600"/>
            <a:ext cx="356235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2×±12Mvar SVG</a:t>
            </a:r>
          </a:p>
        </p:txBody>
      </p:sp>
      <p:sp>
        <p:nvSpPr>
          <p:cNvPr id="9" name="aux-body-2">
            <a:extLst>
              <a:ext uri="{FF2B5EF4-FFF2-40B4-BE49-F238E27FC236}">
                <a16:creationId xmlns:a16="http://schemas.microsoft.com/office/drawing/2014/main" id="{3CF0252A-955B-4F0B-9960-BF8583DC4CAE}"/>
              </a:ext>
            </a:extLst>
          </p:cNvPr>
          <p:cNvSpPr>
            <a:spLocks noGrp="1"/>
          </p:cNvSpPr>
          <p:nvPr/>
        </p:nvSpPr>
        <p:spPr>
          <a:xfrm>
            <a:off x="4314825" y="3857625"/>
            <a:ext cx="3562350" cy="2000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总容量24Mvar
保守需求21.8875Mvar
补偿后功率因数0.98147</a:t>
            </a:r>
          </a:p>
        </p:txBody>
      </p:sp>
      <p:sp>
        <p:nvSpPr>
          <p:cNvPr id="10" name="aux-accent-3">
            <a:extLst>
              <a:ext uri="{FF2B5EF4-FFF2-40B4-BE49-F238E27FC236}">
                <a16:creationId xmlns:a16="http://schemas.microsoft.com/office/drawing/2014/main" id="{7287D2D5-AA9A-486F-93C9-D7135D7C7589}"/>
              </a:ext>
            </a:extLst>
          </p:cNvPr>
          <p:cNvSpPr>
            <a:spLocks noGrp="1"/>
          </p:cNvSpPr>
          <p:nvPr/>
        </p:nvSpPr>
        <p:spPr>
          <a:xfrm>
            <a:off x="8229600" y="2514600"/>
            <a:ext cx="3562350" cy="57150"/>
          </a:xfrm>
          <a:prstGeom prst="rect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</p:sp>
      <p:sp>
        <p:nvSpPr>
          <p:cNvPr id="11" name="aux-title-3">
            <a:extLst>
              <a:ext uri="{FF2B5EF4-FFF2-40B4-BE49-F238E27FC236}">
                <a16:creationId xmlns:a16="http://schemas.microsoft.com/office/drawing/2014/main" id="{A4622E3B-F484-4756-883D-ADF5C63E0081}"/>
              </a:ext>
            </a:extLst>
          </p:cNvPr>
          <p:cNvSpPr>
            <a:spLocks noGrp="1"/>
          </p:cNvSpPr>
          <p:nvPr/>
        </p:nvSpPr>
        <p:spPr>
          <a:xfrm>
            <a:off x="8229600" y="2895600"/>
            <a:ext cx="3562350" cy="60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2×200kVA所用变</a:t>
            </a:r>
          </a:p>
        </p:txBody>
      </p:sp>
      <p:sp>
        <p:nvSpPr>
          <p:cNvPr id="12" name="aux-body-3">
            <a:extLst>
              <a:ext uri="{FF2B5EF4-FFF2-40B4-BE49-F238E27FC236}">
                <a16:creationId xmlns:a16="http://schemas.microsoft.com/office/drawing/2014/main" id="{B031D8B6-122E-41D5-9DB4-4C58BAA63FD6}"/>
              </a:ext>
            </a:extLst>
          </p:cNvPr>
          <p:cNvSpPr>
            <a:spLocks noGrp="1"/>
          </p:cNvSpPr>
          <p:nvPr/>
        </p:nvSpPr>
        <p:spPr>
          <a:xfrm>
            <a:off x="8229600" y="3857625"/>
            <a:ext cx="3562350" cy="2000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380/220V暗备用
最严容量192.9125kVA
一运一备，0.4kV母联闭合</a:t>
            </a:r>
          </a:p>
        </p:txBody>
      </p:sp>
    </p:spTree>
    <p:extLst>
      <p:ext uri="{BB962C8B-B14F-4D97-AF65-F5344CB8AC3E}">
        <p14:creationId xmlns:p14="http://schemas.microsoft.com/office/powerpoint/2010/main" val="1324118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6-title">
            <a:extLst>
              <a:ext uri="{FF2B5EF4-FFF2-40B4-BE49-F238E27FC236}">
                <a16:creationId xmlns:a16="http://schemas.microsoft.com/office/drawing/2014/main" id="{DE37EA4D-3B86-4E12-9D96-A0DBEB68B7F2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主变N-1是当前控制瓶颈，线路裕量仅2.864A</a:t>
            </a:r>
          </a:p>
        </p:txBody>
      </p:sp>
      <p:sp>
        <p:nvSpPr>
          <p:cNvPr id="2" name="page-6">
            <a:extLst>
              <a:ext uri="{FF2B5EF4-FFF2-40B4-BE49-F238E27FC236}">
                <a16:creationId xmlns:a16="http://schemas.microsoft.com/office/drawing/2014/main" id="{3D489653-B791-49B3-9B6B-2C0B3D4697E1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6</a:t>
            </a:r>
          </a:p>
        </p:txBody>
      </p:sp>
      <p:sp>
        <p:nvSpPr>
          <p:cNvPr id="3" name="n1-card-1">
            <a:extLst>
              <a:ext uri="{FF2B5EF4-FFF2-40B4-BE49-F238E27FC236}">
                <a16:creationId xmlns:a16="http://schemas.microsoft.com/office/drawing/2014/main" id="{A37B87F7-959D-4834-9686-61F18737700C}"/>
              </a:ext>
            </a:extLst>
          </p:cNvPr>
          <p:cNvSpPr>
            <a:spLocks noGrp="1"/>
          </p:cNvSpPr>
          <p:nvPr/>
        </p:nvSpPr>
        <p:spPr>
          <a:xfrm>
            <a:off x="7648575" y="1257300"/>
            <a:ext cx="4143375" cy="139065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4" name="n1-card-title-1">
            <a:extLst>
              <a:ext uri="{FF2B5EF4-FFF2-40B4-BE49-F238E27FC236}">
                <a16:creationId xmlns:a16="http://schemas.microsoft.com/office/drawing/2014/main" id="{1E51A5E6-5BCF-4131-BFCB-3B25FB902257}"/>
              </a:ext>
            </a:extLst>
          </p:cNvPr>
          <p:cNvSpPr>
            <a:spLocks noGrp="1"/>
          </p:cNvSpPr>
          <p:nvPr/>
        </p:nvSpPr>
        <p:spPr>
          <a:xfrm>
            <a:off x="7943850" y="1495425"/>
            <a:ext cx="3524250" cy="3619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正常方式</a:t>
            </a:r>
          </a:p>
        </p:txBody>
      </p:sp>
      <p:sp>
        <p:nvSpPr>
          <p:cNvPr id="5" name="n1-card-body-1">
            <a:extLst>
              <a:ext uri="{FF2B5EF4-FFF2-40B4-BE49-F238E27FC236}">
                <a16:creationId xmlns:a16="http://schemas.microsoft.com/office/drawing/2014/main" id="{3454B400-74D9-4CD5-A2C5-9B770E8F0F28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3524250" cy="533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367.780A/回
双回平均分担</a:t>
            </a:r>
          </a:p>
        </p:txBody>
      </p:sp>
      <p:sp>
        <p:nvSpPr>
          <p:cNvPr id="6" name="n1-card-2">
            <a:extLst>
              <a:ext uri="{FF2B5EF4-FFF2-40B4-BE49-F238E27FC236}">
                <a16:creationId xmlns:a16="http://schemas.microsoft.com/office/drawing/2014/main" id="{687CEEAF-B6B7-4CE0-A997-A54029123144}"/>
              </a:ext>
            </a:extLst>
          </p:cNvPr>
          <p:cNvSpPr>
            <a:spLocks noGrp="1"/>
          </p:cNvSpPr>
          <p:nvPr/>
        </p:nvSpPr>
        <p:spPr>
          <a:xfrm>
            <a:off x="7648575" y="3009900"/>
            <a:ext cx="4143375" cy="139065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7" name="n1-card-title-2">
            <a:extLst>
              <a:ext uri="{FF2B5EF4-FFF2-40B4-BE49-F238E27FC236}">
                <a16:creationId xmlns:a16="http://schemas.microsoft.com/office/drawing/2014/main" id="{A4330A6B-42A3-4DFC-BFE0-E6AF7EA166BF}"/>
              </a:ext>
            </a:extLst>
          </p:cNvPr>
          <p:cNvSpPr>
            <a:spLocks noGrp="1"/>
          </p:cNvSpPr>
          <p:nvPr/>
        </p:nvSpPr>
        <p:spPr>
          <a:xfrm>
            <a:off x="7943850" y="3248025"/>
            <a:ext cx="3524250" cy="3619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线路单回N-1</a:t>
            </a:r>
          </a:p>
        </p:txBody>
      </p:sp>
      <p:sp>
        <p:nvSpPr>
          <p:cNvPr id="8" name="n1-card-body-2">
            <a:extLst>
              <a:ext uri="{FF2B5EF4-FFF2-40B4-BE49-F238E27FC236}">
                <a16:creationId xmlns:a16="http://schemas.microsoft.com/office/drawing/2014/main" id="{7624BA6B-54F1-401C-9312-59857730E24C}"/>
              </a:ext>
            </a:extLst>
          </p:cNvPr>
          <p:cNvSpPr>
            <a:spLocks noGrp="1"/>
          </p:cNvSpPr>
          <p:nvPr/>
        </p:nvSpPr>
        <p:spPr>
          <a:xfrm>
            <a:off x="7943850" y="3733800"/>
            <a:ext cx="3524250" cy="533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735.559A
单看线路需限发35.390%</a:t>
            </a:r>
          </a:p>
        </p:txBody>
      </p:sp>
      <p:sp>
        <p:nvSpPr>
          <p:cNvPr id="9" name="n1-card-3">
            <a:extLst>
              <a:ext uri="{FF2B5EF4-FFF2-40B4-BE49-F238E27FC236}">
                <a16:creationId xmlns:a16="http://schemas.microsoft.com/office/drawing/2014/main" id="{BAE46CAC-F90C-4766-BEA4-B0B8C38819DD}"/>
              </a:ext>
            </a:extLst>
          </p:cNvPr>
          <p:cNvSpPr>
            <a:spLocks noGrp="1"/>
          </p:cNvSpPr>
          <p:nvPr/>
        </p:nvSpPr>
        <p:spPr>
          <a:xfrm>
            <a:off x="7648575" y="4762500"/>
            <a:ext cx="4143375" cy="1390650"/>
          </a:xfrm>
          <a:prstGeom prst="roundRect">
            <a:avLst>
              <a:gd name="adj" fmla="val 5479"/>
            </a:avLst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</p:sp>
      <p:sp>
        <p:nvSpPr>
          <p:cNvPr id="10" name="n1-card-title-3">
            <a:extLst>
              <a:ext uri="{FF2B5EF4-FFF2-40B4-BE49-F238E27FC236}">
                <a16:creationId xmlns:a16="http://schemas.microsoft.com/office/drawing/2014/main" id="{575123A7-AC17-49E4-9396-A125768FBE41}"/>
              </a:ext>
            </a:extLst>
          </p:cNvPr>
          <p:cNvSpPr>
            <a:spLocks noGrp="1"/>
          </p:cNvSpPr>
          <p:nvPr/>
        </p:nvSpPr>
        <p:spPr>
          <a:xfrm>
            <a:off x="7943850" y="5000625"/>
            <a:ext cx="3524250" cy="3619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主变N-1限发后</a:t>
            </a:r>
          </a:p>
        </p:txBody>
      </p:sp>
      <p:sp>
        <p:nvSpPr>
          <p:cNvPr id="11" name="n1-card-body-3">
            <a:extLst>
              <a:ext uri="{FF2B5EF4-FFF2-40B4-BE49-F238E27FC236}">
                <a16:creationId xmlns:a16="http://schemas.microsoft.com/office/drawing/2014/main" id="{1BE239F6-936D-4F3B-A869-8473E39DDC88}"/>
              </a:ext>
            </a:extLst>
          </p:cNvPr>
          <p:cNvSpPr>
            <a:spLocks noGrp="1"/>
          </p:cNvSpPr>
          <p:nvPr/>
        </p:nvSpPr>
        <p:spPr>
          <a:xfrm>
            <a:off x="7943850" y="5486400"/>
            <a:ext cx="3524250" cy="533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472.377A
距课程载流量仅2.864A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="400050" y="1295400"/>
          <a:ext cx="67056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0129268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7-title">
            <a:extLst>
              <a:ext uri="{FF2B5EF4-FFF2-40B4-BE49-F238E27FC236}">
                <a16:creationId xmlns:a16="http://schemas.microsoft.com/office/drawing/2014/main" id="{D73DC51D-DAC4-4190-835C-DC3461E74ED2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短路计算支持各级开关设备目标等级</a:t>
            </a:r>
          </a:p>
        </p:txBody>
      </p:sp>
      <p:sp>
        <p:nvSpPr>
          <p:cNvPr id="2" name="page-7">
            <a:extLst>
              <a:ext uri="{FF2B5EF4-FFF2-40B4-BE49-F238E27FC236}">
                <a16:creationId xmlns:a16="http://schemas.microsoft.com/office/drawing/2014/main" id="{79C42F9E-BF8B-41E1-966B-1C94D380E38F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7</a:t>
            </a:r>
          </a:p>
        </p:txBody>
      </p:sp>
      <p:sp>
        <p:nvSpPr>
          <p:cNvPr id="3" name="sc-intro">
            <a:extLst>
              <a:ext uri="{FF2B5EF4-FFF2-40B4-BE49-F238E27FC236}">
                <a16:creationId xmlns:a16="http://schemas.microsoft.com/office/drawing/2014/main" id="{B25A69B3-EB71-4A8B-A399-C0B0D4A996A7}"/>
              </a:ext>
            </a:extLst>
          </p:cNvPr>
          <p:cNvSpPr>
            <a:spLocks noGrp="1"/>
          </p:cNvSpPr>
          <p:nvPr/>
        </p:nvSpPr>
        <p:spPr>
          <a:xfrm>
            <a:off x="400050" y="1162050"/>
            <a:ext cx="11391900" cy="952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基准容量100MVA；平均电压230/37/10.5kV；峰值系数课程取1.8。设备按条件性最大职责预筛，禁止并列方式仅作联锁敏感性提示。</a:t>
            </a:r>
          </a:p>
        </p:txBody>
      </p:sp>
      <p:graphicFrame>
        <p:nvGraphicFramePr>
          <p:cNvPr id="8" name="表格 7"/>
          <p:cNvGraphicFramePr/>
          <p:nvPr/>
        </p:nvGraphicFramePr>
        <p:xfrm>
          <a:off x="609600" y="2476500"/>
          <a:ext cx="10972800" cy="285750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14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00000"/>
                          </a:solidFill>
                        </a:rPr>
                        <a:t>电压级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00000"/>
                          </a:solidFill>
                        </a:rPr>
                        <a:t>必选许可/kA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00000"/>
                          </a:solidFill>
                        </a:rPr>
                        <a:t>条件最大/kA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00000"/>
                          </a:solidFill>
                        </a:rPr>
                        <a:t>禁止敏感性/kA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00000"/>
                          </a:solidFill>
                        </a:rPr>
                        <a:t>峰值预筛/kA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000000"/>
                          </a:solidFill>
                        </a:rPr>
                        <a:t>候选开断/kA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220kV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4.033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7.385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18.798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35kV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13.265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16.291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25.694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41.470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31.5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10kV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14.492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15.638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28.472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39.808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31.5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950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8-title">
            <a:extLst>
              <a:ext uri="{FF2B5EF4-FFF2-40B4-BE49-F238E27FC236}">
                <a16:creationId xmlns:a16="http://schemas.microsoft.com/office/drawing/2014/main" id="{325E17BB-609F-431C-A4C1-2639FF2547EB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220kV户外AIS按145m×90m课程站区组织</a:t>
            </a:r>
          </a:p>
        </p:txBody>
      </p:sp>
      <p:sp>
        <p:nvSpPr>
          <p:cNvPr id="2" name="page-8">
            <a:extLst>
              <a:ext uri="{FF2B5EF4-FFF2-40B4-BE49-F238E27FC236}">
                <a16:creationId xmlns:a16="http://schemas.microsoft.com/office/drawing/2014/main" id="{5B9EB0E0-4B1A-4F9F-A955-A119F664A8F7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8</a:t>
            </a:r>
          </a:p>
        </p:txBody>
      </p:sp>
      <p:sp>
        <p:nvSpPr>
          <p:cNvPr id="3" name="plan-image-frame">
            <a:extLst>
              <a:ext uri="{FF2B5EF4-FFF2-40B4-BE49-F238E27FC236}">
                <a16:creationId xmlns:a16="http://schemas.microsoft.com/office/drawing/2014/main" id="{DB28F4CB-CC3E-4A9A-A308-052B76A28E8E}"/>
              </a:ext>
            </a:extLst>
          </p:cNvPr>
          <p:cNvSpPr>
            <a:spLocks noGrp="1"/>
          </p:cNvSpPr>
          <p:nvPr/>
        </p:nvSpPr>
        <p:spPr>
          <a:xfrm>
            <a:off x="400050" y="1257300"/>
            <a:ext cx="6858000" cy="483870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17" name="plan-imag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2314" y="1333500"/>
            <a:ext cx="6633472" cy="4686300"/>
          </a:xfrm>
          <a:prstGeom prst="rect">
            <a:avLst/>
          </a:prstGeom>
        </p:spPr>
      </p:pic>
      <p:sp>
        <p:nvSpPr>
          <p:cNvPr id="5" name="plan-card-1">
            <a:extLst>
              <a:ext uri="{FF2B5EF4-FFF2-40B4-BE49-F238E27FC236}">
                <a16:creationId xmlns:a16="http://schemas.microsoft.com/office/drawing/2014/main" id="{3CA612AC-177D-435A-9E34-C8187DFD80D0}"/>
              </a:ext>
            </a:extLst>
          </p:cNvPr>
          <p:cNvSpPr>
            <a:spLocks noGrp="1"/>
          </p:cNvSpPr>
          <p:nvPr/>
        </p:nvSpPr>
        <p:spPr>
          <a:xfrm>
            <a:off x="7620000" y="1257300"/>
            <a:ext cx="4171950" cy="1390650"/>
          </a:xfrm>
          <a:prstGeom prst="roundRect">
            <a:avLst>
              <a:gd name="adj" fmla="val 5479"/>
            </a:avLst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</p:sp>
      <p:sp>
        <p:nvSpPr>
          <p:cNvPr id="6" name="plan-card-title-1">
            <a:extLst>
              <a:ext uri="{FF2B5EF4-FFF2-40B4-BE49-F238E27FC236}">
                <a16:creationId xmlns:a16="http://schemas.microsoft.com/office/drawing/2014/main" id="{4F8125C8-EE99-407B-86A9-537B08780F63}"/>
              </a:ext>
            </a:extLst>
          </p:cNvPr>
          <p:cNvSpPr>
            <a:spLocks noGrp="1"/>
          </p:cNvSpPr>
          <p:nvPr/>
        </p:nvSpPr>
        <p:spPr>
          <a:xfrm>
            <a:off x="7924800" y="1495425"/>
            <a:ext cx="3562350" cy="3619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分相中型布置</a:t>
            </a:r>
          </a:p>
        </p:txBody>
      </p:sp>
      <p:sp>
        <p:nvSpPr>
          <p:cNvPr id="7" name="plan-card-body-1">
            <a:extLst>
              <a:ext uri="{FF2B5EF4-FFF2-40B4-BE49-F238E27FC236}">
                <a16:creationId xmlns:a16="http://schemas.microsoft.com/office/drawing/2014/main" id="{976CC31E-6800-4552-8072-72828A548113}"/>
              </a:ext>
            </a:extLst>
          </p:cNvPr>
          <p:cNvSpPr>
            <a:spLocks noGrp="1"/>
          </p:cNvSpPr>
          <p:nvPr/>
        </p:nvSpPr>
        <p:spPr>
          <a:xfrm>
            <a:off x="7924800" y="1971675"/>
            <a:ext cx="356235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线路、分段、主变间隔按14m典型功能节距组织</a:t>
            </a:r>
          </a:p>
        </p:txBody>
      </p:sp>
      <p:sp>
        <p:nvSpPr>
          <p:cNvPr id="8" name="plan-card-2">
            <a:extLst>
              <a:ext uri="{FF2B5EF4-FFF2-40B4-BE49-F238E27FC236}">
                <a16:creationId xmlns:a16="http://schemas.microsoft.com/office/drawing/2014/main" id="{D105EB76-3036-41CC-B42F-2784001E5EC4}"/>
              </a:ext>
            </a:extLst>
          </p:cNvPr>
          <p:cNvSpPr>
            <a:spLocks noGrp="1"/>
          </p:cNvSpPr>
          <p:nvPr/>
        </p:nvSpPr>
        <p:spPr>
          <a:xfrm>
            <a:off x="7620000" y="3009900"/>
            <a:ext cx="4171950" cy="139065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9" name="plan-card-title-2">
            <a:extLst>
              <a:ext uri="{FF2B5EF4-FFF2-40B4-BE49-F238E27FC236}">
                <a16:creationId xmlns:a16="http://schemas.microsoft.com/office/drawing/2014/main" id="{CF950A1B-2587-4CC1-91C9-00B7060168F7}"/>
              </a:ext>
            </a:extLst>
          </p:cNvPr>
          <p:cNvSpPr>
            <a:spLocks noGrp="1"/>
          </p:cNvSpPr>
          <p:nvPr/>
        </p:nvSpPr>
        <p:spPr>
          <a:xfrm>
            <a:off x="7924800" y="3248025"/>
            <a:ext cx="3562350" cy="3619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运输与检修</a:t>
            </a:r>
          </a:p>
        </p:txBody>
      </p:sp>
      <p:sp>
        <p:nvSpPr>
          <p:cNvPr id="10" name="plan-card-body-2">
            <a:extLst>
              <a:ext uri="{FF2B5EF4-FFF2-40B4-BE49-F238E27FC236}">
                <a16:creationId xmlns:a16="http://schemas.microsoft.com/office/drawing/2014/main" id="{4553F2BA-64B8-48F4-9E3D-63845603AC2E}"/>
              </a:ext>
            </a:extLst>
          </p:cNvPr>
          <p:cNvSpPr>
            <a:spLocks noGrp="1"/>
          </p:cNvSpPr>
          <p:nvPr/>
        </p:nvSpPr>
        <p:spPr>
          <a:xfrm>
            <a:off x="7924800" y="3724275"/>
            <a:ext cx="356235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4m道路贯通，设备区、主变区与扩建区边界明确</a:t>
            </a:r>
          </a:p>
        </p:txBody>
      </p:sp>
      <p:sp>
        <p:nvSpPr>
          <p:cNvPr id="11" name="plan-card-3">
            <a:extLst>
              <a:ext uri="{FF2B5EF4-FFF2-40B4-BE49-F238E27FC236}">
                <a16:creationId xmlns:a16="http://schemas.microsoft.com/office/drawing/2014/main" id="{5CE2D0E3-65E4-458B-9A86-43C0D7FC3405}"/>
              </a:ext>
            </a:extLst>
          </p:cNvPr>
          <p:cNvSpPr>
            <a:spLocks noGrp="1"/>
          </p:cNvSpPr>
          <p:nvPr/>
        </p:nvSpPr>
        <p:spPr>
          <a:xfrm>
            <a:off x="7620000" y="4762500"/>
            <a:ext cx="4171950" cy="139065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12" name="plan-card-title-3">
            <a:extLst>
              <a:ext uri="{FF2B5EF4-FFF2-40B4-BE49-F238E27FC236}">
                <a16:creationId xmlns:a16="http://schemas.microsoft.com/office/drawing/2014/main" id="{3AF9B593-3A27-4CD7-B141-B6C9EAB6478B}"/>
              </a:ext>
            </a:extLst>
          </p:cNvPr>
          <p:cNvSpPr>
            <a:spLocks noGrp="1"/>
          </p:cNvSpPr>
          <p:nvPr/>
        </p:nvSpPr>
        <p:spPr>
          <a:xfrm>
            <a:off x="7924800" y="5000625"/>
            <a:ext cx="3562350" cy="3619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课程几何</a:t>
            </a:r>
          </a:p>
        </p:txBody>
      </p:sp>
      <p:sp>
        <p:nvSpPr>
          <p:cNvPr id="13" name="plan-card-body-3">
            <a:extLst>
              <a:ext uri="{FF2B5EF4-FFF2-40B4-BE49-F238E27FC236}">
                <a16:creationId xmlns:a16="http://schemas.microsoft.com/office/drawing/2014/main" id="{D2F85819-FD55-4615-B74C-125D0161F57B}"/>
              </a:ext>
            </a:extLst>
          </p:cNvPr>
          <p:cNvSpPr>
            <a:spLocks noGrp="1"/>
          </p:cNvSpPr>
          <p:nvPr/>
        </p:nvSpPr>
        <p:spPr>
          <a:xfrm>
            <a:off x="7924800" y="5476875"/>
            <a:ext cx="356235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相间中心距4m；保留L3远期出线位置</a:t>
            </a:r>
          </a:p>
        </p:txBody>
      </p:sp>
    </p:spTree>
    <p:extLst>
      <p:ext uri="{BB962C8B-B14F-4D97-AF65-F5344CB8AC3E}">
        <p14:creationId xmlns:p14="http://schemas.microsoft.com/office/powerpoint/2010/main" val="994239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9-title">
            <a:extLst>
              <a:ext uri="{FF2B5EF4-FFF2-40B4-BE49-F238E27FC236}">
                <a16:creationId xmlns:a16="http://schemas.microsoft.com/office/drawing/2014/main" id="{661F2B12-D6BC-4C3F-A5EC-F8766A37ECD5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典型断面满足课程净距，并保留工程复核边界</a:t>
            </a:r>
          </a:p>
        </p:txBody>
      </p:sp>
      <p:sp>
        <p:nvSpPr>
          <p:cNvPr id="2" name="page-9">
            <a:extLst>
              <a:ext uri="{FF2B5EF4-FFF2-40B4-BE49-F238E27FC236}">
                <a16:creationId xmlns:a16="http://schemas.microsoft.com/office/drawing/2014/main" id="{FF89310E-883C-4541-8A28-8C112F3BCAE4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9</a:t>
            </a:r>
          </a:p>
        </p:txBody>
      </p:sp>
      <p:sp>
        <p:nvSpPr>
          <p:cNvPr id="3" name="section-image-frame">
            <a:extLst>
              <a:ext uri="{FF2B5EF4-FFF2-40B4-BE49-F238E27FC236}">
                <a16:creationId xmlns:a16="http://schemas.microsoft.com/office/drawing/2014/main" id="{022EED74-2A45-4C30-8088-12E91D1BC048}"/>
              </a:ext>
            </a:extLst>
          </p:cNvPr>
          <p:cNvSpPr>
            <a:spLocks noGrp="1"/>
          </p:cNvSpPr>
          <p:nvPr/>
        </p:nvSpPr>
        <p:spPr>
          <a:xfrm>
            <a:off x="400050" y="1371600"/>
            <a:ext cx="6191250" cy="4371975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pic>
        <p:nvPicPr>
          <p:cNvPr id="16" name="section-image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09264" y="1447800"/>
            <a:ext cx="5972821" cy="4219575"/>
          </a:xfrm>
          <a:prstGeom prst="rect">
            <a:avLst/>
          </a:prstGeom>
        </p:spPr>
      </p:pic>
      <p:sp>
        <p:nvSpPr>
          <p:cNvPr id="5" name="section-intro">
            <a:extLst>
              <a:ext uri="{FF2B5EF4-FFF2-40B4-BE49-F238E27FC236}">
                <a16:creationId xmlns:a16="http://schemas.microsoft.com/office/drawing/2014/main" id="{9A61C808-A00C-430C-9205-CBBD91B0A114}"/>
              </a:ext>
            </a:extLst>
          </p:cNvPr>
          <p:cNvSpPr>
            <a:spLocks noGrp="1"/>
          </p:cNvSpPr>
          <p:nvPr/>
        </p:nvSpPr>
        <p:spPr>
          <a:xfrm>
            <a:off x="6953250" y="1466850"/>
            <a:ext cx="4572000" cy="1543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母线+9.0m、线路构架+14.5m、主变构架+11.5m。图纸用于课程复核和手绘临摹，设备轮廓、基础与端子方向仍以厂家资料覆盖。</a:t>
            </a:r>
          </a:p>
        </p:txBody>
      </p:sp>
      <p:sp>
        <p:nvSpPr>
          <p:cNvPr id="6" name="section-card-1">
            <a:extLst>
              <a:ext uri="{FF2B5EF4-FFF2-40B4-BE49-F238E27FC236}">
                <a16:creationId xmlns:a16="http://schemas.microsoft.com/office/drawing/2014/main" id="{533581AE-B2BB-4878-BD64-74109DA67542}"/>
              </a:ext>
            </a:extLst>
          </p:cNvPr>
          <p:cNvSpPr>
            <a:spLocks noGrp="1"/>
          </p:cNvSpPr>
          <p:nvPr/>
        </p:nvSpPr>
        <p:spPr>
          <a:xfrm>
            <a:off x="6953250" y="3371850"/>
            <a:ext cx="2095500" cy="2324100"/>
          </a:xfrm>
          <a:prstGeom prst="roundRect">
            <a:avLst>
              <a:gd name="adj" fmla="val 3636"/>
            </a:avLst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</p:sp>
      <p:sp>
        <p:nvSpPr>
          <p:cNvPr id="7" name="section-card-2">
            <a:extLst>
              <a:ext uri="{FF2B5EF4-FFF2-40B4-BE49-F238E27FC236}">
                <a16:creationId xmlns:a16="http://schemas.microsoft.com/office/drawing/2014/main" id="{A43CB710-5AAE-49BC-B080-8155BC26C3DC}"/>
              </a:ext>
            </a:extLst>
          </p:cNvPr>
          <p:cNvSpPr>
            <a:spLocks noGrp="1"/>
          </p:cNvSpPr>
          <p:nvPr/>
        </p:nvSpPr>
        <p:spPr>
          <a:xfrm>
            <a:off x="9429750" y="3371850"/>
            <a:ext cx="2095500" cy="232410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8" name="section-stat-1">
            <a:extLst>
              <a:ext uri="{FF2B5EF4-FFF2-40B4-BE49-F238E27FC236}">
                <a16:creationId xmlns:a16="http://schemas.microsoft.com/office/drawing/2014/main" id="{8C7AF300-BD03-434A-A6EB-DBD5BAB6D95E}"/>
              </a:ext>
            </a:extLst>
          </p:cNvPr>
          <p:cNvSpPr>
            <a:spLocks noGrp="1"/>
          </p:cNvSpPr>
          <p:nvPr/>
        </p:nvSpPr>
        <p:spPr>
          <a:xfrm>
            <a:off x="7191375" y="3848100"/>
            <a:ext cx="1638300" cy="87630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A1
1800 mm</a:t>
            </a:r>
          </a:p>
        </p:txBody>
      </p:sp>
      <p:sp>
        <p:nvSpPr>
          <p:cNvPr id="9" name="section-label-1">
            <a:extLst>
              <a:ext uri="{FF2B5EF4-FFF2-40B4-BE49-F238E27FC236}">
                <a16:creationId xmlns:a16="http://schemas.microsoft.com/office/drawing/2014/main" id="{92BA99A1-ECE8-4190-913C-7A0B8E696787}"/>
              </a:ext>
            </a:extLst>
          </p:cNvPr>
          <p:cNvSpPr>
            <a:spLocks noGrp="1"/>
          </p:cNvSpPr>
          <p:nvPr/>
        </p:nvSpPr>
        <p:spPr>
          <a:xfrm>
            <a:off x="7239000" y="4953000"/>
            <a:ext cx="15240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相对地
最小净距</a:t>
            </a:r>
          </a:p>
        </p:txBody>
      </p:sp>
      <p:sp>
        <p:nvSpPr>
          <p:cNvPr id="10" name="section-stat-2">
            <a:extLst>
              <a:ext uri="{FF2B5EF4-FFF2-40B4-BE49-F238E27FC236}">
                <a16:creationId xmlns:a16="http://schemas.microsoft.com/office/drawing/2014/main" id="{C3A1F476-3CAE-48D9-96BD-BDDEC389A128}"/>
              </a:ext>
            </a:extLst>
          </p:cNvPr>
          <p:cNvSpPr>
            <a:spLocks noGrp="1"/>
          </p:cNvSpPr>
          <p:nvPr/>
        </p:nvSpPr>
        <p:spPr>
          <a:xfrm>
            <a:off x="9667875" y="3848100"/>
            <a:ext cx="1638300" cy="87630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C
4300 mm</a:t>
            </a:r>
          </a:p>
        </p:txBody>
      </p:sp>
      <p:sp>
        <p:nvSpPr>
          <p:cNvPr id="11" name="section-label-2">
            <a:extLst>
              <a:ext uri="{FF2B5EF4-FFF2-40B4-BE49-F238E27FC236}">
                <a16:creationId xmlns:a16="http://schemas.microsoft.com/office/drawing/2014/main" id="{E7F761F6-7B2C-408F-9E82-F217AD77C414}"/>
              </a:ext>
            </a:extLst>
          </p:cNvPr>
          <p:cNvSpPr>
            <a:spLocks noGrp="1"/>
          </p:cNvSpPr>
          <p:nvPr/>
        </p:nvSpPr>
        <p:spPr>
          <a:xfrm>
            <a:off x="9715500" y="4953000"/>
            <a:ext cx="15240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带电体至
围栏/建筑</a:t>
            </a:r>
          </a:p>
        </p:txBody>
      </p:sp>
      <p:sp>
        <p:nvSpPr>
          <p:cNvPr id="12" name="section-other-clearances">
            <a:extLst>
              <a:ext uri="{FF2B5EF4-FFF2-40B4-BE49-F238E27FC236}">
                <a16:creationId xmlns:a16="http://schemas.microsoft.com/office/drawing/2014/main" id="{B5CC5967-840B-459B-BACC-C9F8C054DE34}"/>
              </a:ext>
            </a:extLst>
          </p:cNvPr>
          <p:cNvSpPr>
            <a:spLocks noGrp="1"/>
          </p:cNvSpPr>
          <p:nvPr/>
        </p:nvSpPr>
        <p:spPr>
          <a:xfrm>
            <a:off x="6953250" y="5905500"/>
            <a:ext cx="4572000" cy="285750"/>
          </a:xfrm>
          <a:prstGeom prst="rect">
            <a:avLst/>
          </a:prstGeom>
        </p:spPr>
        <p:txBody>
          <a:bodyPr wrap="square" lIns="0" tIns="0" rIns="0" bIns="0" anchor="t">
            <a:normAutofit fontScale="88697"/>
          </a:bodyPr>
          <a:lstStyle/>
          <a:p>
            <a:pPr algn="l">
              <a:defRPr sz="120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t>其余课程净距：A2=2000mm · B1=2550mm · B2=1900mm · D=3800mm</a:t>
            </a:r>
          </a:p>
        </p:txBody>
      </p:sp>
    </p:spTree>
    <p:extLst>
      <p:ext uri="{BB962C8B-B14F-4D97-AF65-F5344CB8AC3E}">
        <p14:creationId xmlns:p14="http://schemas.microsoft.com/office/powerpoint/2010/main" val="1740988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10-title">
            <a:extLst>
              <a:ext uri="{FF2B5EF4-FFF2-40B4-BE49-F238E27FC236}">
                <a16:creationId xmlns:a16="http://schemas.microsoft.com/office/drawing/2014/main" id="{B4889614-EA5A-403E-8855-7B0E30464281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781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正常方式坚持三处母联断开，一处母联闭合</a:t>
            </a:r>
          </a:p>
        </p:txBody>
      </p:sp>
      <p:sp>
        <p:nvSpPr>
          <p:cNvPr id="2" name="page-10">
            <a:extLst>
              <a:ext uri="{FF2B5EF4-FFF2-40B4-BE49-F238E27FC236}">
                <a16:creationId xmlns:a16="http://schemas.microsoft.com/office/drawing/2014/main" id="{972ADB7C-097F-4169-84A7-1E695C2E8254}"/>
              </a:ext>
            </a:extLst>
          </p:cNvPr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10</a:t>
            </a:r>
          </a:p>
        </p:txBody>
      </p:sp>
      <p:sp>
        <p:nvSpPr>
          <p:cNvPr id="3" name="operation-intro">
            <a:extLst>
              <a:ext uri="{FF2B5EF4-FFF2-40B4-BE49-F238E27FC236}">
                <a16:creationId xmlns:a16="http://schemas.microsoft.com/office/drawing/2014/main" id="{C1541F10-5064-4E2C-8210-F2859DA20850}"/>
              </a:ext>
            </a:extLst>
          </p:cNvPr>
          <p:cNvSpPr>
            <a:spLocks noGrp="1"/>
          </p:cNvSpPr>
          <p:nvPr/>
        </p:nvSpPr>
        <p:spPr>
          <a:xfrm>
            <a:off x="400050" y="1200150"/>
            <a:ext cx="11391900" cy="952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8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分段并非默认并列。系统转供、检修或事故恢复必须满足调度许可、同期检查、限发与保护联锁条件。</a:t>
            </a:r>
          </a:p>
        </p:txBody>
      </p:sp>
      <p:sp>
        <p:nvSpPr>
          <p:cNvPr id="4" name="operation-left">
            <a:extLst>
              <a:ext uri="{FF2B5EF4-FFF2-40B4-BE49-F238E27FC236}">
                <a16:creationId xmlns:a16="http://schemas.microsoft.com/office/drawing/2014/main" id="{A3EA6A77-DD6F-47BF-9C9B-C98217D75E69}"/>
              </a:ext>
            </a:extLst>
          </p:cNvPr>
          <p:cNvSpPr>
            <a:spLocks noGrp="1"/>
          </p:cNvSpPr>
          <p:nvPr/>
        </p:nvSpPr>
        <p:spPr>
          <a:xfrm>
            <a:off x="400050" y="2857500"/>
            <a:ext cx="5524500" cy="1485900"/>
          </a:xfrm>
          <a:prstGeom prst="roundRect">
            <a:avLst>
              <a:gd name="adj" fmla="val 5128"/>
            </a:avLst>
          </a:prstGeom>
          <a:solidFill>
            <a:srgbClr val="F2F2F2"/>
          </a:solidFill>
          <a:ln w="0">
            <a:solidFill>
              <a:srgbClr val="F2F2F2"/>
            </a:solidFill>
            <a:prstDash val="solid"/>
          </a:ln>
        </p:spPr>
      </p:sp>
      <p:sp>
        <p:nvSpPr>
          <p:cNvPr id="5" name="operation-left-title">
            <a:extLst>
              <a:ext uri="{FF2B5EF4-FFF2-40B4-BE49-F238E27FC236}">
                <a16:creationId xmlns:a16="http://schemas.microsoft.com/office/drawing/2014/main" id="{41F216C5-37DD-46D1-864A-6761F794F651}"/>
              </a:ext>
            </a:extLst>
          </p:cNvPr>
          <p:cNvSpPr>
            <a:spLocks noGrp="1"/>
          </p:cNvSpPr>
          <p:nvPr/>
        </p:nvSpPr>
        <p:spPr>
          <a:xfrm>
            <a:off x="704850" y="3162300"/>
            <a:ext cx="4914900" cy="4191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正常保持分列</a:t>
            </a:r>
          </a:p>
        </p:txBody>
      </p:sp>
      <p:sp>
        <p:nvSpPr>
          <p:cNvPr id="6" name="operation-left-card">
            <a:extLst>
              <a:ext uri="{FF2B5EF4-FFF2-40B4-BE49-F238E27FC236}">
                <a16:creationId xmlns:a16="http://schemas.microsoft.com/office/drawing/2014/main" id="{411B4837-0C9B-4844-A022-419E6F6E50E2}"/>
              </a:ext>
            </a:extLst>
          </p:cNvPr>
          <p:cNvSpPr>
            <a:spLocks noGrp="1"/>
          </p:cNvSpPr>
          <p:nvPr/>
        </p:nvSpPr>
        <p:spPr>
          <a:xfrm>
            <a:off x="704850" y="3695700"/>
            <a:ext cx="4914900" cy="552450"/>
          </a:xfrm>
          <a:prstGeom prst="rect">
            <a:avLst/>
          </a:prstGeom>
        </p:spPr>
        <p:txBody>
          <a:bodyPr wrap="square" lIns="0" tIns="0" rIns="0" bIns="0" anchor="t">
            <a:normAutofit fontScale="70048"/>
          </a:bodyPr>
          <a:lstStyle/>
          <a:p>
            <a:pPr algn="l">
              <a:def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220kV分段断开
35kV母联断开
10kV母联断开</a:t>
            </a:r>
          </a:p>
        </p:txBody>
      </p:sp>
      <p:sp>
        <p:nvSpPr>
          <p:cNvPr id="7" name="operation-right">
            <a:extLst>
              <a:ext uri="{FF2B5EF4-FFF2-40B4-BE49-F238E27FC236}">
                <a16:creationId xmlns:a16="http://schemas.microsoft.com/office/drawing/2014/main" id="{FD899AB5-9B24-41DE-85EB-1C884DA35189}"/>
              </a:ext>
            </a:extLst>
          </p:cNvPr>
          <p:cNvSpPr>
            <a:spLocks noGrp="1"/>
          </p:cNvSpPr>
          <p:nvPr/>
        </p:nvSpPr>
        <p:spPr>
          <a:xfrm>
            <a:off x="6267450" y="2857500"/>
            <a:ext cx="5524500" cy="1485900"/>
          </a:xfrm>
          <a:prstGeom prst="roundRect">
            <a:avLst>
              <a:gd name="adj" fmla="val 5128"/>
            </a:avLst>
          </a:prstGeom>
          <a:solidFill>
            <a:srgbClr val="EAF5FB"/>
          </a:solidFill>
          <a:ln w="0">
            <a:solidFill>
              <a:srgbClr val="EAF5FB"/>
            </a:solidFill>
            <a:prstDash val="solid"/>
          </a:ln>
        </p:spPr>
      </p:sp>
      <p:sp>
        <p:nvSpPr>
          <p:cNvPr id="8" name="operation-right-title">
            <a:extLst>
              <a:ext uri="{FF2B5EF4-FFF2-40B4-BE49-F238E27FC236}">
                <a16:creationId xmlns:a16="http://schemas.microsoft.com/office/drawing/2014/main" id="{68EB9ABB-EFB1-47A5-9459-9AE89FA054EE}"/>
              </a:ext>
            </a:extLst>
          </p:cNvPr>
          <p:cNvSpPr>
            <a:spLocks noGrp="1"/>
          </p:cNvSpPr>
          <p:nvPr/>
        </p:nvSpPr>
        <p:spPr>
          <a:xfrm>
            <a:off x="6572250" y="3162300"/>
            <a:ext cx="4914900" cy="4191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仅0.4kV母联闭合</a:t>
            </a:r>
          </a:p>
        </p:txBody>
      </p:sp>
      <p:sp>
        <p:nvSpPr>
          <p:cNvPr id="9" name="operation-right-card">
            <a:extLst>
              <a:ext uri="{FF2B5EF4-FFF2-40B4-BE49-F238E27FC236}">
                <a16:creationId xmlns:a16="http://schemas.microsoft.com/office/drawing/2014/main" id="{8EE528E7-DFF7-4938-8E93-4F94C78B41A0}"/>
              </a:ext>
            </a:extLst>
          </p:cNvPr>
          <p:cNvSpPr>
            <a:spLocks noGrp="1"/>
          </p:cNvSpPr>
          <p:nvPr/>
        </p:nvSpPr>
        <p:spPr>
          <a:xfrm>
            <a:off x="6572250" y="3695700"/>
            <a:ext cx="4914900" cy="552450"/>
          </a:xfrm>
          <a:prstGeom prst="rect">
            <a:avLst/>
          </a:prstGeom>
        </p:spPr>
        <p:txBody>
          <a:bodyPr wrap="square" lIns="0" tIns="0" rIns="0" bIns="0" anchor="t">
            <a:normAutofit fontScale="70048"/>
          </a:bodyPr>
          <a:lstStyle/>
          <a:p>
            <a:pPr algn="l">
              <a:defRPr sz="17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一台所用变运行
另一台进线断开
形成轮换暗备用</a:t>
            </a:r>
          </a:p>
        </p:txBody>
      </p:sp>
      <p:sp>
        <p:nvSpPr>
          <p:cNvPr id="10" name="operation-left-detail">
            <a:extLst>
              <a:ext uri="{FF2B5EF4-FFF2-40B4-BE49-F238E27FC236}">
                <a16:creationId xmlns:a16="http://schemas.microsoft.com/office/drawing/2014/main" id="{B0759554-BA3B-48F7-989C-20BBD1AF13E7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4914900" cy="1066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禁止未经许可并列两套220kV系统
禁止两台健康主变经35kV母联并列
禁止两台健康T10经10kV母联并列</a:t>
            </a:r>
          </a:p>
        </p:txBody>
      </p:sp>
      <p:sp>
        <p:nvSpPr>
          <p:cNvPr id="11" name="operation-right-detail">
            <a:extLst>
              <a:ext uri="{FF2B5EF4-FFF2-40B4-BE49-F238E27FC236}">
                <a16:creationId xmlns:a16="http://schemas.microsoft.com/office/drawing/2014/main" id="{ED37527D-D4B5-401F-A1B6-E778D8EFE0CD}"/>
              </a:ext>
            </a:extLst>
          </p:cNvPr>
          <p:cNvSpPr>
            <a:spLocks noGrp="1"/>
          </p:cNvSpPr>
          <p:nvPr/>
        </p:nvSpPr>
        <p:spPr>
          <a:xfrm>
            <a:off x="6572250" y="4762500"/>
            <a:ext cx="4914900" cy="1066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157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220kV分段闭合需调度许可与同期检查
N-1转供前先落实限发边界
保护定值随运行方式复核</a:t>
            </a:r>
          </a:p>
        </p:txBody>
      </p:sp>
    </p:spTree>
    <p:extLst>
      <p:ext uri="{BB962C8B-B14F-4D97-AF65-F5344CB8AC3E}">
        <p14:creationId xmlns:p14="http://schemas.microsoft.com/office/powerpoint/2010/main" val="18398856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clusion-eyebrow">
            <a:extLst>
              <a:ext uri="{FF2B5EF4-FFF2-40B4-BE49-F238E27FC236}">
                <a16:creationId xmlns:a16="http://schemas.microsoft.com/office/drawing/2014/main" id="{DC968EF7-3B3F-45CB-A6CB-F72ADE32E2DD}"/>
              </a:ext>
            </a:extLst>
          </p:cNvPr>
          <p:cNvSpPr>
            <a:spLocks noGrp="1"/>
          </p:cNvSpPr>
          <p:nvPr/>
        </p:nvSpPr>
        <p:spPr>
          <a:xfrm>
            <a:off x="400050" y="381000"/>
            <a:ext cx="2857500" cy="381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设计结论</a:t>
            </a:r>
          </a:p>
        </p:txBody>
      </p:sp>
      <p:sp>
        <p:nvSpPr>
          <p:cNvPr id="2" name="conclusion-title">
            <a:extLst>
              <a:ext uri="{FF2B5EF4-FFF2-40B4-BE49-F238E27FC236}">
                <a16:creationId xmlns:a16="http://schemas.microsoft.com/office/drawing/2014/main" id="{776D1969-BD2F-453B-947D-F503B4D8F0E8}"/>
              </a:ext>
            </a:extLst>
          </p:cNvPr>
          <p:cNvSpPr>
            <a:spLocks noGrp="1"/>
          </p:cNvSpPr>
          <p:nvPr/>
        </p:nvSpPr>
        <p:spPr>
          <a:xfrm>
            <a:off x="400050" y="1695450"/>
            <a:ext cx="9810750" cy="2781300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/>
          <a:p>
            <a:pPr algn="l">
              <a:defRPr sz="5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方案完整，边界清晰，
图纸可直接临摹</a:t>
            </a:r>
          </a:p>
        </p:txBody>
      </p:sp>
      <p:sp>
        <p:nvSpPr>
          <p:cNvPr id="3" name="conclusion-details">
            <a:extLst>
              <a:ext uri="{FF2B5EF4-FFF2-40B4-BE49-F238E27FC236}">
                <a16:creationId xmlns:a16="http://schemas.microsoft.com/office/drawing/2014/main" id="{AEB6781F-01E8-492F-A2F5-3DDF331DA8D5}"/>
              </a:ext>
            </a:extLst>
          </p:cNvPr>
          <p:cNvSpPr>
            <a:spLocks noGrp="1"/>
          </p:cNvSpPr>
          <p:nvPr/>
        </p:nvSpPr>
        <p:spPr>
          <a:xfrm>
            <a:off x="400050" y="5029200"/>
            <a:ext cx="7239000" cy="1066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defRPr sz="2025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t>2×180MVA主变 + 2×31.5MVA T10
2×±12Mvar SVG + 2×200kVA所用变
SLD-01 / LAY-220-01 / SEC-220-01 已完成</a:t>
            </a:r>
          </a:p>
        </p:txBody>
      </p:sp>
      <p:sp>
        <p:nvSpPr>
          <p:cNvPr id="4" name="conclusion-boundary">
            <a:extLst>
              <a:ext uri="{FF2B5EF4-FFF2-40B4-BE49-F238E27FC236}">
                <a16:creationId xmlns:a16="http://schemas.microsoft.com/office/drawing/2014/main" id="{63078093-9D3D-40F3-A922-4430E870E87A}"/>
              </a:ext>
            </a:extLst>
          </p:cNvPr>
          <p:cNvSpPr>
            <a:spLocks noGrp="1"/>
          </p:cNvSpPr>
          <p:nvPr/>
        </p:nvSpPr>
        <p:spPr>
          <a:xfrm>
            <a:off x="7953375" y="5476875"/>
            <a:ext cx="3838575" cy="628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defRPr sz="1350" b="0">
                <a:solidFill>
                  <a:srgbClr val="555555"/>
                </a:solidFill>
                <a:latin typeface="Microsoft YaHei"/>
                <a:ea typeface="Microsoft YaHei"/>
                <a:cs typeface="Microsoft YaHei"/>
              </a:defRPr>
            </a:pPr>
            <a:r>
              <a:t>课程设计底稿，非施工图；工程实施前须按现行标准与厂家资料复核。</a:t>
            </a:r>
          </a:p>
        </p:txBody>
      </p:sp>
    </p:spTree>
    <p:extLst>
      <p:ext uri="{BB962C8B-B14F-4D97-AF65-F5344CB8AC3E}">
        <p14:creationId xmlns:p14="http://schemas.microsoft.com/office/powerpoint/2010/main" val="572764240"/>
      </p:ext>
    </p:extLst>
  </p:cSld>
  <p:clrMapOvr>
    <a:masterClrMapping/>
  </p:clrMapOvr>
</p:sld>
</file>

<file path=ppt/theme/theme1.xml><?xml version="1.0" encoding="utf-8"?>
<a:theme xmlns:a="http://schemas.openxmlformats.org/drawingml/2006/main" name="课程设计主题">
  <a:themeElements>
    <a:clrScheme name="课程设计主题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课程设计主题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课程设计主题">
  <a:themeElements>
    <a:clrScheme name="课程设计主题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课程设计主题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437</Words>
  <Application>Microsoft Office PowerPoint</Application>
  <DocSecurity>0</DocSecurity>
  <PresentationFormat>宽屏</PresentationFormat>
  <Paragraphs>97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课程设计主题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3" baseType="lpstr">
      <vt:lpstr>Calibri</vt:lpstr>
      <vt:lpstr>课程设计主题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220kV新能源汇集变电所电气一次部分初步设计答辩汇报</dc:title>
  <dc:creator>课程设计项目组（公开版）</dc:creator>
  <cp:lastModifiedBy>课程设计项目组（公开版）</cp:lastModifiedBy>
  <cp:revision>1</cp:revision>
  <dcterms:created xsi:type="dcterms:W3CDTF">2026-07-15T12:56:29Z</dcterms:created>
  <dcterms:modified xsi:type="dcterms:W3CDTF">2026-07-15T13:00:12Z</dcterms:modified>
</cp:coreProperties>
</file>